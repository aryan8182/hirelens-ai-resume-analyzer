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971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600" b="1">
                <a:solidFill>
                  <a:srgbClr val="00F7FF"/>
                </a:solidFill>
              </a:defRPr>
            </a:pPr>
            <a:r>
              <a:t>HireLens</a:t>
            </a:r>
          </a:p>
          <a:p>
            <a:pPr>
              <a:spcAft>
                <a:spcPts val="2400"/>
              </a:spcAft>
              <a:defRPr sz="2400" b="1">
                <a:solidFill>
                  <a:srgbClr val="FFFFFF"/>
                </a:solidFill>
              </a:defRPr>
            </a:pPr>
            <a:r>
              <a:t>AI-Powered Resume Screening &amp; Job Matching System</a:t>
            </a:r>
          </a:p>
          <a:p>
            <a:pPr>
              <a:spcAft>
                <a:spcPts val="400"/>
              </a:spcAft>
              <a:defRPr sz="1400" b="1">
                <a:solidFill>
                  <a:srgbClr val="FFBF00"/>
                </a:solidFill>
              </a:defRPr>
            </a:pPr>
            <a:r>
              <a:t>PRESENTED BY: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</a:defRPr>
            </a:pPr>
            <a:r>
              <a:t>• Aryan  (Roll No: 28240533)    |    • Nitish  (Roll No: 28240529)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t>B.Tech 3rd Year (AI &amp; ML) | Panipat Institute of Engineering &amp; Technology (PIET)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7FF"/>
                </a:solidFill>
                <a:latin typeface="Segoe UI"/>
              </a:defRPr>
            </a:pPr>
            <a:r>
              <a:t>HIRELENS |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Why Do We Need AI in Hiring?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BF00"/>
                </a:solidFill>
              </a:defRPr>
            </a:pPr>
            <a:r>
              <a:t>THE RECRUITMENT CHALLENGE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FFFFF"/>
                </a:solidFill>
              </a:rPr>
              <a:t>❌ 500+ Resumes Per Job: </a:t>
            </a:r>
            <a:r>
              <a:rPr sz="1500">
                <a:solidFill>
                  <a:srgbClr val="E2E8F0"/>
                </a:solidFill>
              </a:rPr>
              <a:t>Recruiters cannot manually read every resume thoroughly.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FFFFF"/>
                </a:solidFill>
              </a:rPr>
              <a:t>❌ Keyword Penalty: </a:t>
            </a:r>
            <a:r>
              <a:rPr sz="1500">
                <a:solidFill>
                  <a:srgbClr val="E2E8F0"/>
                </a:solidFill>
              </a:rPr>
              <a:t>Old ATS software rejects qualified candidates just because of word choices.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FFFFF"/>
                </a:solidFill>
              </a:rPr>
              <a:t>❌ Synonym Blindness: </a:t>
            </a:r>
            <a:r>
              <a:rPr sz="1500">
                <a:solidFill>
                  <a:srgbClr val="E2E8F0"/>
                </a:solidFill>
              </a:rPr>
              <a:t>Traditional tools don't know that 'Deep Learning' means 'Machine Learning'.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764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F7FF"/>
                </a:solidFill>
              </a:defRPr>
            </a:pPr>
            <a:r>
              <a:t>OUR SOLUTION: HIRELENS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FFFFF"/>
                </a:solidFill>
              </a:rPr>
              <a:t>✅ Understands Meaning: </a:t>
            </a:r>
            <a:r>
              <a:rPr sz="1500">
                <a:solidFill>
                  <a:srgbClr val="E2E8F0"/>
                </a:solidFill>
              </a:rPr>
              <a:t>Uses SBERT AI to evaluate conceptual fit, not just exact keywords.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FFFFF"/>
                </a:solidFill>
              </a:rPr>
              <a:t>✅ Skill Gap Analysis: </a:t>
            </a:r>
            <a:r>
              <a:rPr sz="1500">
                <a:solidFill>
                  <a:srgbClr val="E2E8F0"/>
                </a:solidFill>
              </a:rPr>
              <a:t>Shows candidates exactly which skills they are missing.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FFFFF"/>
                </a:solidFill>
              </a:rPr>
              <a:t>✅ Fair &amp; Instant: </a:t>
            </a:r>
            <a:r>
              <a:rPr sz="1500">
                <a:solidFill>
                  <a:srgbClr val="E2E8F0"/>
                </a:solidFill>
              </a:rPr>
              <a:t>Ranks candidate resumes automatically in under 2 seconds!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7FF"/>
                </a:solidFill>
                <a:latin typeface="Segoe UI"/>
              </a:defRPr>
            </a:pPr>
            <a:r>
              <a:t>HIRELENS |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How Does HireLens Work? (4-Step Pipeline)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F7FF"/>
                </a:solidFill>
              </a:defRPr>
            </a:pPr>
            <a:r>
              <a:t>1. READ RESUME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Extracts clean text from PDF and DOCX files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BF00"/>
                </a:solidFill>
              </a:defRPr>
            </a:pPr>
            <a:r>
              <a:t>2. AUDIT CONTACT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Extracts clean Email and 10-digit Phone Numbers using Regex.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F7FF"/>
                </a:solidFill>
              </a:defRPr>
            </a:pPr>
            <a:r>
              <a:t>3. SBERT AI MATCH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Compares resume meaning against Job Requirements.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12064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BF00"/>
                </a:solidFill>
              </a:defRPr>
            </a:pPr>
            <a:r>
              <a:t>4. SCORE &amp; RANK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Generates 0-100% score, Radar Chart, and leaderboard.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7FF"/>
                </a:solidFill>
                <a:latin typeface="Segoe UI"/>
              </a:defRPr>
            </a:pPr>
            <a:r>
              <a:t>HIRELENS |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Core ATS Scoring Formula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4630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BF00"/>
                </a:solidFill>
              </a:defRPr>
            </a:pPr>
            <a:r>
              <a:t>HYBRID ATS SCORE FORMULA:</a:t>
            </a:r>
          </a:p>
          <a:p>
            <a:pPr>
              <a:defRPr sz="1800" b="1">
                <a:solidFill>
                  <a:srgbClr val="00F7FF"/>
                </a:solidFill>
                <a:latin typeface="Consolas"/>
              </a:defRPr>
            </a:pPr>
            <a:r>
              <a:t>ATS Score = (45% × SBERT AI Meaning) + (35% × Skill Match) + (20% × Keywords)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3328416" cy="30175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296265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F7FF"/>
                </a:solidFill>
              </a:defRPr>
            </a:pPr>
            <a:r>
              <a:t>45% SBERT AI Meaning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Measures how well candidate experience conceptually matches the job requirements.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3108960"/>
            <a:ext cx="3328416" cy="30175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3291840"/>
            <a:ext cx="296265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BF00"/>
                </a:solidFill>
              </a:defRPr>
            </a:pPr>
            <a:r>
              <a:t>35% Skill Match Ratio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Checks what percentage of required core skills are present on candidate's resume.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3108960"/>
            <a:ext cx="3328416" cy="30175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3291840"/>
            <a:ext cx="296265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F7FF"/>
                </a:solidFill>
              </a:defRPr>
            </a:pPr>
            <a:r>
              <a:t>20% Exact Keywords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Rewards candidates who use exact industry terminology aligned with the job description.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7FF"/>
                </a:solidFill>
                <a:latin typeface="Segoe UI"/>
              </a:defRPr>
            </a:pPr>
            <a:r>
              <a:t>HIRELENS |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How Does SBERT AI Understand Meaning?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FFBF00"/>
                </a:solidFill>
              </a:defRPr>
            </a:pPr>
            <a:r>
              <a:t>SBERT (SENTENCE-BERT) ADVANTAGE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0F7FF"/>
                </a:solidFill>
              </a:rPr>
              <a:t>🔹 Converts Text into AI Vectors: </a:t>
            </a:r>
            <a:r>
              <a:rPr sz="1600">
                <a:solidFill>
                  <a:srgbClr val="FFFFFF"/>
                </a:solidFill>
              </a:rPr>
              <a:t>SBERT converts sentences into 384-dimensional number lists (vectors).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0F7FF"/>
                </a:solidFill>
              </a:rPr>
              <a:t>🔹 Recognizes Synonyms: </a:t>
            </a:r>
            <a:r>
              <a:rPr sz="1600">
                <a:solidFill>
                  <a:srgbClr val="FFFFFF"/>
                </a:solidFill>
              </a:rPr>
              <a:t>It knows that 'Deep Learning Neural Nets' matches 'Machine Learning Models'.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0F7FF"/>
                </a:solidFill>
              </a:rPr>
              <a:t>🔹 Cosine Distance Concept: </a:t>
            </a:r>
            <a:r>
              <a:rPr sz="1600">
                <a:solidFill>
                  <a:srgbClr val="FFFFFF"/>
                </a:solidFill>
              </a:rPr>
              <a:t>Measures vector angle: Smaller angle = Closer meaning = Higher ATS Score!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0F7FF"/>
                </a:solidFill>
              </a:rPr>
              <a:t>🔹 Fast &amp; Lightweight: </a:t>
            </a:r>
            <a:r>
              <a:rPr sz="1600">
                <a:solidFill>
                  <a:srgbClr val="FFFFFF"/>
                </a:solidFill>
              </a:rPr>
              <a:t>Processes sentences in milliseconds, allowing rapid screening of hundreds of resumes.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7FF"/>
                </a:solidFill>
                <a:latin typeface="Segoe UI"/>
              </a:defRPr>
            </a:pPr>
            <a:r>
              <a:t>LIVE DEMO | SYSTEM VISUAL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Live System Visual: ATS Score Gauge &amp;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1206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1_ats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0362895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8978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BF00"/>
                </a:solidFill>
              </a:defRPr>
            </a:pPr>
            <a:r>
              <a:t>📸 LIVE SYSTEM DEMO: Real-time evaluation dashboard showing ML Engineer Candidate scoring 87.5% (Strong Match Grade)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7FF"/>
                </a:solidFill>
                <a:latin typeface="Segoe UI"/>
              </a:defRPr>
            </a:pPr>
            <a:r>
              <a:t>HIRELENS |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7-Domain Technical Skill Taxonomy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1051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F7FF"/>
                </a:solidFill>
              </a:defRPr>
            </a:pPr>
            <a:r>
              <a:t>1. Programming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Python, Java, C++, JavaScript, SQL, Rust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5120640" cy="1051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BF00"/>
                </a:solidFill>
              </a:defRPr>
            </a:pPr>
            <a:r>
              <a:t>2. Machine Learning &amp; AI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PyTorch, TensorFlow, Scikit-Learn, SpaCy, LLMs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1051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F7FF"/>
                </a:solidFill>
              </a:defRPr>
            </a:pPr>
            <a:r>
              <a:t>3. Web Development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React, Node.js, FastAPI, Flask, Django, REST APIs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5120640" cy="1051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BF00"/>
                </a:solidFill>
              </a:defRPr>
            </a:pPr>
            <a:r>
              <a:t>4. Cloud &amp; DevOps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AWS, Azure, GCP, Docker, Kubernetes, Git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120640" cy="1051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F7FF"/>
                </a:solidFill>
              </a:defRPr>
            </a:pPr>
            <a:r>
              <a:t>5. Databases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PostgreSQL, MySQL, MongoDB, Redis, SQLite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06040"/>
            <a:ext cx="5120640" cy="1051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69748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BF00"/>
                </a:solidFill>
              </a:defRPr>
            </a:pPr>
            <a:r>
              <a:t>6. Frameworks &amp; Tools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Pandas, NumPy, Matplotlib, Jupyter, VS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120640" cy="1051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93192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F7FF"/>
                </a:solidFill>
              </a:defRPr>
            </a:pPr>
            <a:r>
              <a:t>7. Soft Skills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Leadership, Problem Solving, Communication, Teamwork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7FF"/>
                </a:solidFill>
                <a:latin typeface="Segoe UI"/>
              </a:defRPr>
            </a:pPr>
            <a:r>
              <a:t>LIVE DEMO | SYSTEM VISUAL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Live System Visual: Plotly Multi-Domain Skill Radar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1206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2_rad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0362895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8978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BF00"/>
                </a:solidFill>
              </a:defRPr>
            </a:pPr>
            <a:r>
              <a:t>📸 LIVE SYSTEM DEMO: Interactive polar radar chart visually comparing candidate domain proficiency against job requirements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7FF"/>
                </a:solidFill>
                <a:latin typeface="Segoe UI"/>
              </a:defRPr>
            </a:pPr>
            <a:r>
              <a:t>HIRELENS |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Resume Formatting &amp; Contact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FFBF00"/>
                </a:solidFill>
              </a:defRPr>
            </a:pPr>
            <a:r>
              <a:t>5 AUTOMATED AUDIT CHECKPOINTS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0F7FF"/>
                </a:solidFill>
              </a:rPr>
              <a:t>1. Contact Information: </a:t>
            </a:r>
            <a:r>
              <a:rPr sz="1500">
                <a:solidFill>
                  <a:srgbClr val="FFFFFF"/>
                </a:solidFill>
              </a:rPr>
              <a:t>Extracts Email, 10-digit Phone Number, LinkedIn, and GitHub links cleanly.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0F7FF"/>
                </a:solidFill>
              </a:rPr>
              <a:t>2. Word Count Check: </a:t>
            </a:r>
            <a:r>
              <a:rPr sz="1500">
                <a:solidFill>
                  <a:srgbClr val="FFFFFF"/>
                </a:solidFill>
              </a:rPr>
              <a:t>Ensures resume is not too short (&lt;300 words) or too long (&gt;1500 words).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0F7FF"/>
                </a:solidFill>
              </a:rPr>
              <a:t>3. Essential Sections: </a:t>
            </a:r>
            <a:r>
              <a:rPr sz="1500">
                <a:solidFill>
                  <a:srgbClr val="FFFFFF"/>
                </a:solidFill>
              </a:rPr>
              <a:t>Verifies presence of Education, Experience, Skills, and Projects sections.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0F7FF"/>
                </a:solidFill>
              </a:rPr>
              <a:t>4. Strong Action Verbs: </a:t>
            </a:r>
            <a:r>
              <a:rPr sz="1500">
                <a:solidFill>
                  <a:srgbClr val="FFFFFF"/>
                </a:solidFill>
              </a:rPr>
              <a:t>Scans for strong impact verbs (Designed, Developed, Optimized, Implemented).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0F7FF"/>
                </a:solidFill>
              </a:rPr>
              <a:t>5. Skill Gap Feedback: </a:t>
            </a:r>
            <a:r>
              <a:rPr sz="1500">
                <a:solidFill>
                  <a:srgbClr val="FFFFFF"/>
                </a:solidFill>
              </a:rPr>
              <a:t>Generates an instant list of missing required skills for candidate improvement.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7FF"/>
                </a:solidFill>
                <a:latin typeface="Segoe UI"/>
              </a:defRPr>
            </a:pPr>
            <a:r>
              <a:t>LIVE DEMO | SYSTEM VISUAL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Live System Visual: Formatting Audit &amp; Skill Gap Advice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1206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3_recommend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0362895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8978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BF00"/>
                </a:solidFill>
              </a:defRPr>
            </a:pPr>
            <a:r>
              <a:t>📸 LIVE SYSTEM DEMO: Automated contact audit, section validation, and actionable missing skill badges provided to candidate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7FF"/>
                </a:solidFill>
                <a:latin typeface="Segoe UI"/>
              </a:defRPr>
            </a:pPr>
            <a:r>
              <a:t>HIRELENS |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Streamlit Dashboard &amp; SQLite Audit Logging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F7FF"/>
                </a:solidFill>
              </a:defRPr>
            </a:pPr>
            <a:r>
              <a:t>DASHBOARD HIGHLIGHTS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FFFFF"/>
                </a:solidFill>
              </a:rPr>
              <a:t>• Streamlit Web App: </a:t>
            </a:r>
            <a:r>
              <a:rPr sz="1500">
                <a:solidFill>
                  <a:srgbClr val="E2E8F0"/>
                </a:solidFill>
              </a:rPr>
              <a:t>Clean dark mode user interface accessible in web browser.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FFFFF"/>
                </a:solidFill>
              </a:rPr>
              <a:t>• Preset Demo Button: </a:t>
            </a:r>
            <a:r>
              <a:rPr sz="1500">
                <a:solidFill>
                  <a:srgbClr val="E2E8F0"/>
                </a:solidFill>
              </a:rPr>
              <a:t>One-click 'Load Preset Sample ML Data' for fast live demonstration.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FFFFF"/>
                </a:solidFill>
              </a:rPr>
              <a:t>• Plotly Radar Chart: </a:t>
            </a:r>
            <a:r>
              <a:rPr sz="1500">
                <a:solidFill>
                  <a:srgbClr val="E2E8F0"/>
                </a:solidFill>
              </a:rPr>
              <a:t>Visual chart comparing candidate skills vs job requirements.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764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BF00"/>
                </a:solidFill>
              </a:defRPr>
            </a:pPr>
            <a:r>
              <a:t>DATABASE &amp; LEADERBOARD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FFFFF"/>
                </a:solidFill>
              </a:rPr>
              <a:t>• Batch Leaderboard: </a:t>
            </a:r>
            <a:r>
              <a:rPr sz="1500">
                <a:solidFill>
                  <a:srgbClr val="E2E8F0"/>
                </a:solidFill>
              </a:rPr>
              <a:t>Upload 10+ resumes at once to rank candidates from highest to lowest score.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FFFFF"/>
                </a:solidFill>
              </a:rPr>
              <a:t>• SQLite History Log: </a:t>
            </a:r>
            <a:r>
              <a:rPr sz="1500">
                <a:solidFill>
                  <a:srgbClr val="E2E8F0"/>
                </a:solidFill>
              </a:rPr>
              <a:t>Saves evaluation history into ats_history.db database.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FFFFF"/>
                </a:solidFill>
              </a:rPr>
              <a:t>• Clear History Feature: </a:t>
            </a:r>
            <a:r>
              <a:rPr sz="1500">
                <a:solidFill>
                  <a:srgbClr val="E2E8F0"/>
                </a:solidFill>
              </a:rPr>
              <a:t>Includes a one-click 'Clear Audit Logs' button to reset database records.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7FF"/>
                </a:solidFill>
                <a:latin typeface="Segoe UI"/>
              </a:defRPr>
            </a:pPr>
            <a:r>
              <a:t>LIVE DEMO | SYSTEM VISUAL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Live System Visual: Batch Leaderboard &amp; SQLite Log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1206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4_batch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0362895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8978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BF00"/>
                </a:solidFill>
              </a:defRPr>
            </a:pPr>
            <a:r>
              <a:t>📸 LIVE SYSTEM DEMO: Candidate ranking leaderboard and SQLite audit trail saved in ats_history.db with clear history button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7FF"/>
                </a:solidFill>
                <a:latin typeface="Segoe UI"/>
              </a:defRPr>
            </a:pPr>
            <a:r>
              <a:t>HIRELENS |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System Latency &amp; Performance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FBF00"/>
                </a:solidFill>
              </a:defRPr>
            </a:pPr>
            <a:r>
              <a:t>TEST CASE: ML ENGINEER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FFFFF"/>
                </a:solidFill>
              </a:rPr>
              <a:t>• SBERT AI Meaning: </a:t>
            </a:r>
            <a:r>
              <a:rPr sz="1500" b="0">
                <a:solidFill>
                  <a:srgbClr val="E2E8F0"/>
                </a:solidFill>
              </a:rPr>
              <a:t>88.0%  (High Match)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FFFFF"/>
                </a:solidFill>
              </a:rPr>
              <a:t>• Skill Match Ratio: </a:t>
            </a:r>
            <a:r>
              <a:rPr sz="1500" b="0">
                <a:solidFill>
                  <a:srgbClr val="E2E8F0"/>
                </a:solidFill>
              </a:rPr>
              <a:t>85.0%  (17 of 20 Skills)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FFFFF"/>
                </a:solidFill>
              </a:rPr>
              <a:t>• Keyword Frequency: </a:t>
            </a:r>
            <a:r>
              <a:rPr sz="1500" b="0">
                <a:solidFill>
                  <a:srgbClr val="E2E8F0"/>
                </a:solidFill>
              </a:rPr>
              <a:t>89.0%  (Strong Fit)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FFBF00"/>
                </a:solidFill>
              </a:rPr>
              <a:t>• FINAL ATS SCORE: </a:t>
            </a:r>
            <a:r>
              <a:rPr sz="1500" b="1">
                <a:solidFill>
                  <a:srgbClr val="00F7FF"/>
                </a:solidFill>
              </a:rPr>
              <a:t>87.5%  (STRONG MATCH)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764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0F7FF"/>
                </a:solidFill>
              </a:defRPr>
            </a:pPr>
            <a:r>
              <a:t>SPEED &amp; SYSTEM BENCHMARKS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FFFFFF"/>
                </a:solidFill>
              </a:rPr>
              <a:t>• Super-Fast Latency: </a:t>
            </a:r>
            <a:r>
              <a:rPr sz="1500">
                <a:solidFill>
                  <a:srgbClr val="E2E8F0"/>
                </a:solidFill>
              </a:rPr>
              <a:t>Processes each resume in under 1.8 seconds!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FFFFFF"/>
                </a:solidFill>
              </a:rPr>
              <a:t>• Low RAM Usage: </a:t>
            </a:r>
            <a:r>
              <a:rPr sz="1500">
                <a:solidFill>
                  <a:srgbClr val="E2E8F0"/>
                </a:solidFill>
              </a:rPr>
              <a:t>Uses less than 250 MB memory during evaluation.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FFFFFF"/>
                </a:solidFill>
              </a:rPr>
              <a:t>• No GPU Needed: </a:t>
            </a:r>
            <a:r>
              <a:rPr sz="1500">
                <a:solidFill>
                  <a:srgbClr val="E2E8F0"/>
                </a:solidFill>
              </a:rPr>
              <a:t>Runs smoothly on standard laptop CPUs without expensive graphics cards.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7FF"/>
                </a:solidFill>
                <a:latin typeface="Segoe UI"/>
              </a:defRPr>
            </a:pPr>
            <a:r>
              <a:t>HIRELENS |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Enterprise REST API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00F7FF"/>
                </a:solidFill>
              </a:defRPr>
            </a:pPr>
            <a:r>
              <a:t>FASTAPI BACKEND ENDPOINTS (api.py)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FFBF00"/>
                </a:solidFill>
              </a:rPr>
              <a:t>🔹 GET /docs : </a:t>
            </a:r>
            <a:r>
              <a:rPr sz="1500">
                <a:solidFill>
                  <a:srgbClr val="FFFFFF"/>
                </a:solidFill>
              </a:rPr>
              <a:t>Interactive Swagger UI documentation for live browser API testing.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FFBF00"/>
                </a:solidFill>
              </a:rPr>
              <a:t>🔹 POST /api/v1/parse-resume : </a:t>
            </a:r>
            <a:r>
              <a:rPr sz="1500">
                <a:solidFill>
                  <a:srgbClr val="FFFFFF"/>
                </a:solidFill>
              </a:rPr>
              <a:t>Upload PDF/DOCX resume file to get extracted text &amp; contact JSON.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FFBF00"/>
                </a:solidFill>
              </a:rPr>
              <a:t>🔹 POST /api/v1/analyze-match : </a:t>
            </a:r>
            <a:r>
              <a:rPr sz="1500">
                <a:solidFill>
                  <a:srgbClr val="FFFFFF"/>
                </a:solidFill>
              </a:rPr>
              <a:t>Returns ATS Match Score, Skill Coverage, and missing skill list JSON.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FFBF00"/>
                </a:solidFill>
              </a:rPr>
              <a:t>🔹 POST /api/v1/batch-rank : </a:t>
            </a:r>
            <a:r>
              <a:rPr sz="1500">
                <a:solidFill>
                  <a:srgbClr val="FFFFFF"/>
                </a:solidFill>
              </a:rPr>
              <a:t>Ranks multiple candidate resumes via API call responses.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7FF"/>
                </a:solidFill>
                <a:latin typeface="Segoe UI"/>
              </a:defRPr>
            </a:pPr>
            <a:r>
              <a:t>HIRELENS |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Future Scope &amp;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FFBF00"/>
                </a:solidFill>
              </a:defRPr>
            </a:pPr>
            <a:r>
              <a:t>FUTURE ROADMAP FOR HIRELENS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00F7FF"/>
                </a:solidFill>
              </a:rPr>
              <a:t>1. OCR Support for Scanned PDFs: </a:t>
            </a:r>
            <a:r>
              <a:rPr sz="1500">
                <a:solidFill>
                  <a:srgbClr val="FFFFFF"/>
                </a:solidFill>
              </a:rPr>
              <a:t>Integrate Tesseract OCR to read image-only scanned resumes.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00F7FF"/>
                </a:solidFill>
              </a:rPr>
              <a:t>2. Vector Database Scaling: </a:t>
            </a:r>
            <a:r>
              <a:rPr sz="1500">
                <a:solidFill>
                  <a:srgbClr val="FFFFFF"/>
                </a:solidFill>
              </a:rPr>
              <a:t>Use FAISS / Qdrant vector databases for instant searching across 1,000,000+ candidate resumes.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00F7FF"/>
                </a:solidFill>
              </a:rPr>
              <a:t>3. Multilingual Screening: </a:t>
            </a:r>
            <a:r>
              <a:rPr sz="1500">
                <a:solidFill>
                  <a:srgbClr val="FFFFFF"/>
                </a:solidFill>
              </a:rPr>
              <a:t>Support multi-language resume parsing (Spanish, Hindi, German, French).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00F7FF"/>
                </a:solidFill>
              </a:rPr>
              <a:t>4. Auto Interview Question Generator: </a:t>
            </a:r>
            <a:r>
              <a:rPr sz="1500">
                <a:solidFill>
                  <a:srgbClr val="FFFFFF"/>
                </a:solidFill>
              </a:rPr>
              <a:t>Automatically generate custom technical interview questions based on detected candidate skill gaps.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7FF"/>
                </a:solidFill>
                <a:latin typeface="Segoe UI"/>
              </a:defRPr>
            </a:pPr>
            <a:r>
              <a:t>HIRELENS | CAPSTONE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Project Conclusion &amp; Thank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F7FF"/>
                </a:solidFill>
              </a:defRPr>
            </a:pPr>
            <a:r>
              <a:t>SUMMARY OF ACCOMPLISHMENTS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⭐ HireLens makes hiring faster, fairer, and context-aware.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⭐ Eliminates keyword rejection penalties for qualified candidates.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⭐ Combines SBERT AI, 7-Domain Skill Ontology, and Streamlit UI into a full capstone project.</a:t>
            </a:r>
          </a:p>
          <a:p>
            <a:pPr algn="ctr">
              <a:spcBef>
                <a:spcPts val="2000"/>
              </a:spcBef>
              <a:defRPr sz="2000" b="1">
                <a:solidFill>
                  <a:srgbClr val="FFBF00"/>
                </a:solidFill>
              </a:defRPr>
            </a:pPr>
            <a:r>
              <a:t>THANK YOU! QUESTIONS &amp; FEEDBACK ARE WELCOME</a:t>
            </a:r>
          </a:p>
          <a:p>
            <a:pPr algn="ctr">
              <a:defRPr sz="1300">
                <a:solidFill>
                  <a:srgbClr val="00F7FF"/>
                </a:solidFill>
              </a:defRPr>
            </a:pPr>
            <a:r>
              <a:t>Live Web App: https://aryan8182-hirelens-ai-resume-analyzer-app-p2fpgo.streamlit.app/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