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1675"/>
  <p:notesSz cx="6858000" cy="9144000"/>
  <p:embeddedFontLst>
    <p:embeddedFont>
      <p:font typeface="Quattrocento Sans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QuattrocentoSans-boldItalic.fntdata"/><Relationship Id="rId6" Type="http://schemas.openxmlformats.org/officeDocument/2006/relationships/slide" Target="slides/slide1.xml"/><Relationship Id="rId18" Type="http://schemas.openxmlformats.org/officeDocument/2006/relationships/font" Target="fonts/QuattrocentoSan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762000" y="457200"/>
            <a:ext cx="10668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 b="1" sz="1300">
              <a:solidFill>
                <a:srgbClr val="00F7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762000" y="857250"/>
            <a:ext cx="106680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5400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</a:t>
            </a:r>
            <a:endParaRPr b="0" sz="5400">
              <a:solidFill>
                <a:srgbClr val="00F7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rtl="0" algn="l">
              <a:spcBef>
                <a:spcPts val="105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AI-Powered Resume Screening &amp; Job Matching System</a:t>
            </a:r>
            <a:endParaRPr b="1" sz="2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762000" y="2667000"/>
            <a:ext cx="10668000" cy="3524400"/>
          </a:xfrm>
          <a:prstGeom prst="roundRect">
            <a:avLst>
              <a:gd fmla="val 8648" name="adj"/>
            </a:avLst>
          </a:prstGeom>
          <a:solidFill>
            <a:srgbClr val="1E293B"/>
          </a:solidFill>
          <a:ln cap="flat" cmpd="sng" w="23825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66800" y="2933700"/>
            <a:ext cx="10058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rPr>
              <a:t>PRESENTED BY:</a:t>
            </a:r>
            <a:endParaRPr b="1" sz="1300">
              <a:solidFill>
                <a:srgbClr val="FFB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3"/>
          <p:cNvGrpSpPr/>
          <p:nvPr/>
        </p:nvGrpSpPr>
        <p:grpSpPr>
          <a:xfrm>
            <a:off x="1066800" y="3333750"/>
            <a:ext cx="4914900" cy="1333500"/>
            <a:chOff x="0" y="0"/>
            <a:chExt cx="4914900" cy="1333500"/>
          </a:xfrm>
        </p:grpSpPr>
        <p:sp>
          <p:nvSpPr>
            <p:cNvPr id="89" name="Google Shape;89;p13"/>
            <p:cNvSpPr/>
            <p:nvPr/>
          </p:nvSpPr>
          <p:spPr>
            <a:xfrm>
              <a:off x="0" y="0"/>
              <a:ext cx="4914900" cy="1333500"/>
            </a:xfrm>
            <a:prstGeom prst="roundRect">
              <a:avLst>
                <a:gd fmla="val 14285" name="adj"/>
              </a:avLst>
            </a:prstGeom>
            <a:solidFill>
              <a:srgbClr val="0F172A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3"/>
            <p:cNvSpPr txBox="1"/>
            <p:nvPr/>
          </p:nvSpPr>
          <p:spPr>
            <a:xfrm>
              <a:off x="228600" y="190500"/>
              <a:ext cx="44577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• Aryan</a:t>
              </a:r>
              <a:endParaRPr b="1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Roll No: 28240533</a:t>
              </a:r>
              <a:endParaRPr b="0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3"/>
          <p:cNvGrpSpPr/>
          <p:nvPr/>
        </p:nvGrpSpPr>
        <p:grpSpPr>
          <a:xfrm>
            <a:off x="6210300" y="3333750"/>
            <a:ext cx="4914900" cy="1333500"/>
            <a:chOff x="0" y="0"/>
            <a:chExt cx="4914900" cy="1333500"/>
          </a:xfrm>
        </p:grpSpPr>
        <p:sp>
          <p:nvSpPr>
            <p:cNvPr id="92" name="Google Shape;92;p13"/>
            <p:cNvSpPr/>
            <p:nvPr/>
          </p:nvSpPr>
          <p:spPr>
            <a:xfrm>
              <a:off x="0" y="0"/>
              <a:ext cx="4914900" cy="1333500"/>
            </a:xfrm>
            <a:prstGeom prst="roundRect">
              <a:avLst>
                <a:gd fmla="val 14285" name="adj"/>
              </a:avLst>
            </a:prstGeom>
            <a:solidFill>
              <a:srgbClr val="0F172A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228600" y="190500"/>
              <a:ext cx="44577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• Nitish</a:t>
              </a:r>
              <a:endParaRPr b="1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Roll No: 28240529</a:t>
              </a:r>
              <a:endParaRPr b="0" sz="15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1057275" y="4886325"/>
            <a:ext cx="9839325" cy="971700"/>
            <a:chOff x="-9525" y="-9525"/>
            <a:chExt cx="9839325" cy="971700"/>
          </a:xfrm>
        </p:grpSpPr>
        <p:pic>
          <p:nvPicPr>
            <p:cNvPr id="95" name="Google Shape;9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-9525" y="-9525"/>
              <a:ext cx="9153600" cy="971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6" name="Google Shape;96;p13"/>
            <p:cNvSpPr txBox="1"/>
            <p:nvPr/>
          </p:nvSpPr>
          <p:spPr>
            <a:xfrm>
              <a:off x="228600" y="95250"/>
              <a:ext cx="96012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B.Tech 3rd Year (AI &amp; ML) | Panipat Institute of Engineering &amp; Technology (PIET)</a:t>
              </a:r>
              <a:endParaRPr b="0" sz="16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/>
        </p:nvSpPr>
        <p:spPr>
          <a:xfrm>
            <a:off x="731520" y="320040"/>
            <a:ext cx="1069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731520" y="594360"/>
            <a:ext cx="10698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Why Do We Need AI in Hiring?</a:t>
            </a:r>
            <a:endParaRPr/>
          </a:p>
        </p:txBody>
      </p:sp>
      <p:grpSp>
        <p:nvGrpSpPr>
          <p:cNvPr id="103" name="Google Shape;103;p14"/>
          <p:cNvGrpSpPr/>
          <p:nvPr/>
        </p:nvGrpSpPr>
        <p:grpSpPr>
          <a:xfrm>
            <a:off x="731520" y="1285875"/>
            <a:ext cx="5143500" cy="457200"/>
            <a:chOff x="0" y="0"/>
            <a:chExt cx="5143500" cy="457200"/>
          </a:xfrm>
        </p:grpSpPr>
        <p:sp>
          <p:nvSpPr>
            <p:cNvPr id="104" name="Google Shape;104;p14"/>
            <p:cNvSpPr/>
            <p:nvPr/>
          </p:nvSpPr>
          <p:spPr>
            <a:xfrm>
              <a:off x="0" y="0"/>
              <a:ext cx="5143500" cy="457200"/>
            </a:xfrm>
            <a:prstGeom prst="roundRect">
              <a:avLst>
                <a:gd fmla="val 25000" name="adj"/>
              </a:avLst>
            </a:prstGeom>
            <a:solidFill>
              <a:srgbClr val="1E293B"/>
            </a:solidFill>
            <a:ln cap="flat" cmpd="sng" w="14300">
              <a:solidFill>
                <a:srgbClr val="F59E0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4"/>
            <p:cNvSpPr txBox="1"/>
            <p:nvPr/>
          </p:nvSpPr>
          <p:spPr>
            <a:xfrm>
              <a:off x="0" y="0"/>
              <a:ext cx="51435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THE RECRUITMENT CHALLENGE</a:t>
              </a:r>
              <a:endParaRPr b="1" sz="15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4"/>
          <p:cNvGrpSpPr/>
          <p:nvPr/>
        </p:nvGrpSpPr>
        <p:grpSpPr>
          <a:xfrm>
            <a:off x="6316980" y="1285875"/>
            <a:ext cx="5143500" cy="457200"/>
            <a:chOff x="0" y="0"/>
            <a:chExt cx="5143500" cy="457200"/>
          </a:xfrm>
        </p:grpSpPr>
        <p:sp>
          <p:nvSpPr>
            <p:cNvPr id="107" name="Google Shape;107;p14"/>
            <p:cNvSpPr/>
            <p:nvPr/>
          </p:nvSpPr>
          <p:spPr>
            <a:xfrm>
              <a:off x="0" y="0"/>
              <a:ext cx="5143500" cy="457200"/>
            </a:xfrm>
            <a:prstGeom prst="roundRect">
              <a:avLst>
                <a:gd fmla="val 25000" name="adj"/>
              </a:avLst>
            </a:prstGeom>
            <a:solidFill>
              <a:srgbClr val="1E293B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4"/>
            <p:cNvSpPr txBox="1"/>
            <p:nvPr/>
          </p:nvSpPr>
          <p:spPr>
            <a:xfrm>
              <a:off x="0" y="0"/>
              <a:ext cx="51435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OUR SOLUTION: HIRELENS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4"/>
          <p:cNvGrpSpPr/>
          <p:nvPr/>
        </p:nvGrpSpPr>
        <p:grpSpPr>
          <a:xfrm>
            <a:off x="731520" y="1885950"/>
            <a:ext cx="5143500" cy="1352700"/>
            <a:chOff x="0" y="0"/>
            <a:chExt cx="5143500" cy="1352700"/>
          </a:xfrm>
        </p:grpSpPr>
        <p:sp>
          <p:nvSpPr>
            <p:cNvPr id="110" name="Google Shape;110;p14"/>
            <p:cNvSpPr/>
            <p:nvPr/>
          </p:nvSpPr>
          <p:spPr>
            <a:xfrm>
              <a:off x="0" y="0"/>
              <a:ext cx="5143500" cy="1352700"/>
            </a:xfrm>
            <a:prstGeom prst="roundRect">
              <a:avLst>
                <a:gd fmla="val 11267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4"/>
            <p:cNvSpPr/>
            <p:nvPr/>
          </p:nvSpPr>
          <p:spPr>
            <a:xfrm>
              <a:off x="0" y="0"/>
              <a:ext cx="57300" cy="1352700"/>
            </a:xfrm>
            <a:prstGeom prst="roundRect">
              <a:avLst>
                <a:gd fmla="val 50000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4"/>
            <p:cNvSpPr txBox="1"/>
            <p:nvPr/>
          </p:nvSpPr>
          <p:spPr>
            <a:xfrm>
              <a:off x="228600" y="0"/>
              <a:ext cx="4686300" cy="1352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EF4444"/>
                  </a:solidFill>
                  <a:latin typeface="Calibri"/>
                  <a:ea typeface="Calibri"/>
                  <a:cs typeface="Calibri"/>
                  <a:sym typeface="Calibri"/>
                </a:rPr>
                <a:t>❌ 500+ Resumes Per Job</a:t>
              </a:r>
              <a:endParaRPr b="1" sz="1600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Recruiters cannot manually read every resume thoroughly.</a:t>
              </a:r>
              <a:endParaRPr b="0"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3" name="Google Shape;113;p14"/>
          <p:cNvGrpSpPr/>
          <p:nvPr/>
        </p:nvGrpSpPr>
        <p:grpSpPr>
          <a:xfrm>
            <a:off x="731520" y="3371850"/>
            <a:ext cx="5143500" cy="1352700"/>
            <a:chOff x="0" y="0"/>
            <a:chExt cx="5143500" cy="1352700"/>
          </a:xfrm>
        </p:grpSpPr>
        <p:sp>
          <p:nvSpPr>
            <p:cNvPr id="114" name="Google Shape;114;p14"/>
            <p:cNvSpPr/>
            <p:nvPr/>
          </p:nvSpPr>
          <p:spPr>
            <a:xfrm>
              <a:off x="0" y="0"/>
              <a:ext cx="5143500" cy="1352700"/>
            </a:xfrm>
            <a:prstGeom prst="roundRect">
              <a:avLst>
                <a:gd fmla="val 11267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4"/>
            <p:cNvSpPr/>
            <p:nvPr/>
          </p:nvSpPr>
          <p:spPr>
            <a:xfrm>
              <a:off x="0" y="0"/>
              <a:ext cx="57300" cy="1352700"/>
            </a:xfrm>
            <a:prstGeom prst="roundRect">
              <a:avLst>
                <a:gd fmla="val 50000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4"/>
            <p:cNvSpPr txBox="1"/>
            <p:nvPr/>
          </p:nvSpPr>
          <p:spPr>
            <a:xfrm>
              <a:off x="228600" y="0"/>
              <a:ext cx="4686300" cy="1352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EF4444"/>
                  </a:solidFill>
                  <a:latin typeface="Calibri"/>
                  <a:ea typeface="Calibri"/>
                  <a:cs typeface="Calibri"/>
                  <a:sym typeface="Calibri"/>
                </a:rPr>
                <a:t>❌ Keyword Penalty</a:t>
              </a:r>
              <a:endParaRPr b="1" sz="1600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Old ATS software rejects qualified candidates just because of word choices.</a:t>
              </a:r>
              <a:endParaRPr b="0"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7" name="Google Shape;117;p14"/>
          <p:cNvGrpSpPr/>
          <p:nvPr/>
        </p:nvGrpSpPr>
        <p:grpSpPr>
          <a:xfrm>
            <a:off x="731520" y="4857750"/>
            <a:ext cx="5143500" cy="1352700"/>
            <a:chOff x="0" y="0"/>
            <a:chExt cx="5143500" cy="1352700"/>
          </a:xfrm>
        </p:grpSpPr>
        <p:sp>
          <p:nvSpPr>
            <p:cNvPr id="118" name="Google Shape;118;p14"/>
            <p:cNvSpPr/>
            <p:nvPr/>
          </p:nvSpPr>
          <p:spPr>
            <a:xfrm>
              <a:off x="0" y="0"/>
              <a:ext cx="5143500" cy="1352700"/>
            </a:xfrm>
            <a:prstGeom prst="roundRect">
              <a:avLst>
                <a:gd fmla="val 11267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4"/>
            <p:cNvSpPr/>
            <p:nvPr/>
          </p:nvSpPr>
          <p:spPr>
            <a:xfrm>
              <a:off x="0" y="0"/>
              <a:ext cx="57300" cy="1352700"/>
            </a:xfrm>
            <a:prstGeom prst="roundRect">
              <a:avLst>
                <a:gd fmla="val 50000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4"/>
            <p:cNvSpPr txBox="1"/>
            <p:nvPr/>
          </p:nvSpPr>
          <p:spPr>
            <a:xfrm>
              <a:off x="228600" y="0"/>
              <a:ext cx="4686300" cy="1352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EF4444"/>
                  </a:solidFill>
                  <a:latin typeface="Calibri"/>
                  <a:ea typeface="Calibri"/>
                  <a:cs typeface="Calibri"/>
                  <a:sym typeface="Calibri"/>
                </a:rPr>
                <a:t>❌ Synonym Blindness</a:t>
              </a:r>
              <a:endParaRPr b="1" sz="1600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Traditional tools don't know that 'Deep Learning' means 'Machine Learning'.</a:t>
              </a:r>
              <a:endParaRPr b="0"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4"/>
          <p:cNvGrpSpPr/>
          <p:nvPr/>
        </p:nvGrpSpPr>
        <p:grpSpPr>
          <a:xfrm>
            <a:off x="6316980" y="1885950"/>
            <a:ext cx="5143500" cy="1352700"/>
            <a:chOff x="0" y="0"/>
            <a:chExt cx="5143500" cy="1352700"/>
          </a:xfrm>
        </p:grpSpPr>
        <p:sp>
          <p:nvSpPr>
            <p:cNvPr id="122" name="Google Shape;122;p14"/>
            <p:cNvSpPr/>
            <p:nvPr/>
          </p:nvSpPr>
          <p:spPr>
            <a:xfrm>
              <a:off x="0" y="0"/>
              <a:ext cx="5143500" cy="1352700"/>
            </a:xfrm>
            <a:prstGeom prst="roundRect">
              <a:avLst>
                <a:gd fmla="val 11267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4"/>
            <p:cNvSpPr/>
            <p:nvPr/>
          </p:nvSpPr>
          <p:spPr>
            <a:xfrm>
              <a:off x="0" y="0"/>
              <a:ext cx="57300" cy="1352700"/>
            </a:xfrm>
            <a:prstGeom prst="roundRect">
              <a:avLst>
                <a:gd fmla="val 50000" name="adj"/>
              </a:avLst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4"/>
            <p:cNvSpPr txBox="1"/>
            <p:nvPr/>
          </p:nvSpPr>
          <p:spPr>
            <a:xfrm>
              <a:off x="228600" y="0"/>
              <a:ext cx="4686300" cy="1352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0B981"/>
                  </a:solidFill>
                  <a:latin typeface="Calibri"/>
                  <a:ea typeface="Calibri"/>
                  <a:cs typeface="Calibri"/>
                  <a:sym typeface="Calibri"/>
                </a:rPr>
                <a:t>✅ Understands Meaning</a:t>
              </a:r>
              <a:endParaRPr b="1" sz="1600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Uses SBERT AI to evaluate conceptual fit, not just exact keywords.</a:t>
              </a:r>
              <a:endParaRPr b="0"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" name="Google Shape;125;p14"/>
          <p:cNvGrpSpPr/>
          <p:nvPr/>
        </p:nvGrpSpPr>
        <p:grpSpPr>
          <a:xfrm>
            <a:off x="6316980" y="3371850"/>
            <a:ext cx="5143500" cy="1352700"/>
            <a:chOff x="0" y="0"/>
            <a:chExt cx="5143500" cy="1352700"/>
          </a:xfrm>
        </p:grpSpPr>
        <p:sp>
          <p:nvSpPr>
            <p:cNvPr id="126" name="Google Shape;126;p14"/>
            <p:cNvSpPr/>
            <p:nvPr/>
          </p:nvSpPr>
          <p:spPr>
            <a:xfrm>
              <a:off x="0" y="0"/>
              <a:ext cx="5143500" cy="1352700"/>
            </a:xfrm>
            <a:prstGeom prst="roundRect">
              <a:avLst>
                <a:gd fmla="val 11267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14"/>
            <p:cNvSpPr/>
            <p:nvPr/>
          </p:nvSpPr>
          <p:spPr>
            <a:xfrm>
              <a:off x="0" y="0"/>
              <a:ext cx="57300" cy="1352700"/>
            </a:xfrm>
            <a:prstGeom prst="roundRect">
              <a:avLst>
                <a:gd fmla="val 50000" name="adj"/>
              </a:avLst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14"/>
            <p:cNvSpPr txBox="1"/>
            <p:nvPr/>
          </p:nvSpPr>
          <p:spPr>
            <a:xfrm>
              <a:off x="228600" y="0"/>
              <a:ext cx="4686300" cy="1352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0B981"/>
                  </a:solidFill>
                  <a:latin typeface="Calibri"/>
                  <a:ea typeface="Calibri"/>
                  <a:cs typeface="Calibri"/>
                  <a:sym typeface="Calibri"/>
                </a:rPr>
                <a:t>✅ Skill Gap Analysis</a:t>
              </a:r>
              <a:endParaRPr b="1" sz="1600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Shows candidates exactly which skills they are missing.</a:t>
              </a:r>
              <a:endParaRPr b="0"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9" name="Google Shape;129;p14"/>
          <p:cNvGrpSpPr/>
          <p:nvPr/>
        </p:nvGrpSpPr>
        <p:grpSpPr>
          <a:xfrm>
            <a:off x="6316980" y="4857750"/>
            <a:ext cx="5143500" cy="1352700"/>
            <a:chOff x="0" y="0"/>
            <a:chExt cx="5143500" cy="1352700"/>
          </a:xfrm>
        </p:grpSpPr>
        <p:sp>
          <p:nvSpPr>
            <p:cNvPr id="130" name="Google Shape;130;p14"/>
            <p:cNvSpPr/>
            <p:nvPr/>
          </p:nvSpPr>
          <p:spPr>
            <a:xfrm>
              <a:off x="0" y="0"/>
              <a:ext cx="5143500" cy="1352700"/>
            </a:xfrm>
            <a:prstGeom prst="roundRect">
              <a:avLst>
                <a:gd fmla="val 11267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14"/>
            <p:cNvSpPr/>
            <p:nvPr/>
          </p:nvSpPr>
          <p:spPr>
            <a:xfrm>
              <a:off x="0" y="0"/>
              <a:ext cx="57300" cy="1352700"/>
            </a:xfrm>
            <a:prstGeom prst="roundRect">
              <a:avLst>
                <a:gd fmla="val 50000" name="adj"/>
              </a:avLst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14"/>
            <p:cNvSpPr txBox="1"/>
            <p:nvPr/>
          </p:nvSpPr>
          <p:spPr>
            <a:xfrm>
              <a:off x="228600" y="0"/>
              <a:ext cx="4686300" cy="1352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0B981"/>
                  </a:solidFill>
                  <a:latin typeface="Calibri"/>
                  <a:ea typeface="Calibri"/>
                  <a:cs typeface="Calibri"/>
                  <a:sym typeface="Calibri"/>
                </a:rPr>
                <a:t>✅ Fair &amp; Instant</a:t>
              </a:r>
              <a:endParaRPr b="1" sz="1600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Ranks candidate resumes automatically in under 2 seconds!</a:t>
              </a:r>
              <a:endParaRPr b="0"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/>
          <p:nvPr/>
        </p:nvSpPr>
        <p:spPr>
          <a:xfrm>
            <a:off x="731520" y="381000"/>
            <a:ext cx="106986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 b="1" sz="1100">
              <a:solidFill>
                <a:srgbClr val="00F7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38" name="Google Shape;138;p15"/>
          <p:cNvSpPr txBox="1"/>
          <p:nvPr/>
        </p:nvSpPr>
        <p:spPr>
          <a:xfrm>
            <a:off x="731520" y="647700"/>
            <a:ext cx="10698600" cy="43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How Does HireLens Work? (4-Step Pipeline)</a:t>
            </a:r>
            <a:endParaRPr b="1" sz="2800">
              <a:solidFill>
                <a:srgbClr val="FFFF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39" name="Google Shape;139;p15"/>
          <p:cNvGrpSpPr/>
          <p:nvPr/>
        </p:nvGrpSpPr>
        <p:grpSpPr>
          <a:xfrm>
            <a:off x="2667000" y="1962150"/>
            <a:ext cx="6334125" cy="76200"/>
            <a:chOff x="2667000" y="1962150"/>
            <a:chExt cx="6334125" cy="76200"/>
          </a:xfrm>
        </p:grpSpPr>
        <p:pic>
          <p:nvPicPr>
            <p:cNvPr id="140" name="Google Shape;140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667000" y="1990725"/>
              <a:ext cx="714300" cy="19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1" name="Google Shape;141;p15"/>
            <p:cNvSpPr/>
            <p:nvPr/>
          </p:nvSpPr>
          <p:spPr>
            <a:xfrm>
              <a:off x="3362325" y="1962150"/>
              <a:ext cx="76200" cy="762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F7FF">
                <a:alpha val="8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42" name="Google Shape;142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448300" y="1990725"/>
              <a:ext cx="714300" cy="19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3" name="Google Shape;143;p15"/>
            <p:cNvSpPr/>
            <p:nvPr/>
          </p:nvSpPr>
          <p:spPr>
            <a:xfrm>
              <a:off x="6143625" y="1962150"/>
              <a:ext cx="76200" cy="762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BF00">
                <a:alpha val="8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44" name="Google Shape;14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8229600" y="1990725"/>
              <a:ext cx="714300" cy="19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5" name="Google Shape;145;p15"/>
            <p:cNvSpPr/>
            <p:nvPr/>
          </p:nvSpPr>
          <p:spPr>
            <a:xfrm>
              <a:off x="8924925" y="1962150"/>
              <a:ext cx="76200" cy="762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6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0F7FF">
                <a:alpha val="8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6" name="Google Shape;146;p15"/>
          <p:cNvGrpSpPr/>
          <p:nvPr/>
        </p:nvGrpSpPr>
        <p:grpSpPr>
          <a:xfrm>
            <a:off x="731520" y="1428750"/>
            <a:ext cx="2305200" cy="4762500"/>
            <a:chOff x="0" y="0"/>
            <a:chExt cx="2305200" cy="4762500"/>
          </a:xfrm>
        </p:grpSpPr>
        <p:sp>
          <p:nvSpPr>
            <p:cNvPr id="147" name="Google Shape;147;p15"/>
            <p:cNvSpPr/>
            <p:nvPr/>
          </p:nvSpPr>
          <p:spPr>
            <a:xfrm>
              <a:off x="0" y="0"/>
              <a:ext cx="2305200" cy="4762500"/>
            </a:xfrm>
            <a:prstGeom prst="roundRect">
              <a:avLst>
                <a:gd fmla="val 8264" name="adj"/>
              </a:avLst>
            </a:prstGeom>
            <a:solidFill>
              <a:srgbClr val="1E293B"/>
            </a:solidFill>
            <a:ln cap="flat" cmpd="sng" w="1905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15"/>
            <p:cNvSpPr/>
            <p:nvPr/>
          </p:nvSpPr>
          <p:spPr>
            <a:xfrm>
              <a:off x="171450" y="190500"/>
              <a:ext cx="762000" cy="266700"/>
            </a:xfrm>
            <a:prstGeom prst="roundRect">
              <a:avLst>
                <a:gd fmla="val 50000" name="adj"/>
              </a:avLst>
            </a:prstGeom>
            <a:solidFill>
              <a:srgbClr val="00F7FF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15"/>
            <p:cNvSpPr txBox="1"/>
            <p:nvPr/>
          </p:nvSpPr>
          <p:spPr>
            <a:xfrm>
              <a:off x="171450" y="190500"/>
              <a:ext cx="7620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0F7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STEP 01</a:t>
              </a:r>
              <a:endParaRPr b="1" sz="1000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0" name="Google Shape;150;p15"/>
            <p:cNvSpPr/>
            <p:nvPr/>
          </p:nvSpPr>
          <p:spPr>
            <a:xfrm>
              <a:off x="190500" y="828675"/>
              <a:ext cx="533400" cy="533400"/>
            </a:xfrm>
            <a:prstGeom prst="ellipse">
              <a:avLst/>
            </a:prstGeom>
            <a:solidFill>
              <a:srgbClr val="0F172A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15"/>
            <p:cNvSpPr txBox="1"/>
            <p:nvPr/>
          </p:nvSpPr>
          <p:spPr>
            <a:xfrm>
              <a:off x="266700" y="93992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description</a:t>
              </a:r>
              <a:endParaRPr sz="24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52" name="Google Shape;152;p15"/>
            <p:cNvSpPr txBox="1"/>
            <p:nvPr/>
          </p:nvSpPr>
          <p:spPr>
            <a:xfrm>
              <a:off x="190500" y="1619250"/>
              <a:ext cx="19242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1. READ RESUME</a:t>
              </a:r>
              <a:endParaRPr b="1" sz="16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Extracts clean text from PDF and DOCX files automatically.</a:t>
              </a:r>
              <a:endParaRPr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3" name="Google Shape;153;p15"/>
          <p:cNvGrpSpPr/>
          <p:nvPr/>
        </p:nvGrpSpPr>
        <p:grpSpPr>
          <a:xfrm>
            <a:off x="3512820" y="1428750"/>
            <a:ext cx="2305200" cy="4762500"/>
            <a:chOff x="0" y="0"/>
            <a:chExt cx="2305200" cy="4762500"/>
          </a:xfrm>
        </p:grpSpPr>
        <p:sp>
          <p:nvSpPr>
            <p:cNvPr id="154" name="Google Shape;154;p15"/>
            <p:cNvSpPr/>
            <p:nvPr/>
          </p:nvSpPr>
          <p:spPr>
            <a:xfrm>
              <a:off x="0" y="0"/>
              <a:ext cx="2305200" cy="4762500"/>
            </a:xfrm>
            <a:prstGeom prst="roundRect">
              <a:avLst>
                <a:gd fmla="val 8264" name="adj"/>
              </a:avLst>
            </a:prstGeom>
            <a:solidFill>
              <a:srgbClr val="1E293B"/>
            </a:solidFill>
            <a:ln cap="flat" cmpd="sng" w="1905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15"/>
            <p:cNvSpPr/>
            <p:nvPr/>
          </p:nvSpPr>
          <p:spPr>
            <a:xfrm>
              <a:off x="171450" y="190500"/>
              <a:ext cx="762000" cy="266700"/>
            </a:xfrm>
            <a:prstGeom prst="roundRect">
              <a:avLst>
                <a:gd fmla="val 50000" name="adj"/>
              </a:avLst>
            </a:prstGeom>
            <a:solidFill>
              <a:srgbClr val="FFBF00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15"/>
            <p:cNvSpPr txBox="1"/>
            <p:nvPr/>
          </p:nvSpPr>
          <p:spPr>
            <a:xfrm>
              <a:off x="171450" y="190500"/>
              <a:ext cx="7620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FFBF00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STEP 02</a:t>
              </a:r>
              <a:endParaRPr b="1" sz="1000">
                <a:solidFill>
                  <a:srgbClr val="FFBF00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57" name="Google Shape;157;p15"/>
            <p:cNvSpPr/>
            <p:nvPr/>
          </p:nvSpPr>
          <p:spPr>
            <a:xfrm>
              <a:off x="190500" y="828675"/>
              <a:ext cx="533400" cy="533400"/>
            </a:xfrm>
            <a:prstGeom prst="ellipse">
              <a:avLst/>
            </a:prstGeom>
            <a:solidFill>
              <a:srgbClr val="0F172A"/>
            </a:solidFill>
            <a:ln cap="flat" cmpd="sng" w="1430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15"/>
            <p:cNvSpPr txBox="1"/>
            <p:nvPr/>
          </p:nvSpPr>
          <p:spPr>
            <a:xfrm>
              <a:off x="266700" y="93992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verified_user</a:t>
              </a:r>
              <a:endParaRPr sz="24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59" name="Google Shape;159;p15"/>
            <p:cNvSpPr txBox="1"/>
            <p:nvPr/>
          </p:nvSpPr>
          <p:spPr>
            <a:xfrm>
              <a:off x="190500" y="1619250"/>
              <a:ext cx="19242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2. AUDIT CONTACT</a:t>
              </a:r>
              <a:endParaRPr b="1" sz="16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Extracts clean Email and 10-digit Phone Numbers using Regex.</a:t>
              </a:r>
              <a:endParaRPr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0" name="Google Shape;160;p15"/>
          <p:cNvGrpSpPr/>
          <p:nvPr/>
        </p:nvGrpSpPr>
        <p:grpSpPr>
          <a:xfrm>
            <a:off x="6294120" y="1428750"/>
            <a:ext cx="2305200" cy="4762500"/>
            <a:chOff x="0" y="0"/>
            <a:chExt cx="2305200" cy="4762500"/>
          </a:xfrm>
        </p:grpSpPr>
        <p:sp>
          <p:nvSpPr>
            <p:cNvPr id="161" name="Google Shape;161;p15"/>
            <p:cNvSpPr/>
            <p:nvPr/>
          </p:nvSpPr>
          <p:spPr>
            <a:xfrm>
              <a:off x="0" y="0"/>
              <a:ext cx="2305200" cy="4762500"/>
            </a:xfrm>
            <a:prstGeom prst="roundRect">
              <a:avLst>
                <a:gd fmla="val 8264" name="adj"/>
              </a:avLst>
            </a:prstGeom>
            <a:solidFill>
              <a:srgbClr val="1E293B"/>
            </a:solidFill>
            <a:ln cap="flat" cmpd="sng" w="1905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15"/>
            <p:cNvSpPr/>
            <p:nvPr/>
          </p:nvSpPr>
          <p:spPr>
            <a:xfrm>
              <a:off x="171450" y="190500"/>
              <a:ext cx="762000" cy="266700"/>
            </a:xfrm>
            <a:prstGeom prst="roundRect">
              <a:avLst>
                <a:gd fmla="val 50000" name="adj"/>
              </a:avLst>
            </a:prstGeom>
            <a:solidFill>
              <a:srgbClr val="00F7FF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15"/>
            <p:cNvSpPr txBox="1"/>
            <p:nvPr/>
          </p:nvSpPr>
          <p:spPr>
            <a:xfrm>
              <a:off x="171450" y="190500"/>
              <a:ext cx="7620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0F7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STEP 03</a:t>
              </a:r>
              <a:endParaRPr b="1" sz="1000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15"/>
            <p:cNvSpPr/>
            <p:nvPr/>
          </p:nvSpPr>
          <p:spPr>
            <a:xfrm>
              <a:off x="190500" y="828675"/>
              <a:ext cx="533400" cy="533400"/>
            </a:xfrm>
            <a:prstGeom prst="ellipse">
              <a:avLst/>
            </a:prstGeom>
            <a:solidFill>
              <a:srgbClr val="0F172A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15"/>
            <p:cNvSpPr txBox="1"/>
            <p:nvPr/>
          </p:nvSpPr>
          <p:spPr>
            <a:xfrm>
              <a:off x="266700" y="93992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sz="24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6" name="Google Shape;166;p15"/>
            <p:cNvSpPr txBox="1"/>
            <p:nvPr/>
          </p:nvSpPr>
          <p:spPr>
            <a:xfrm>
              <a:off x="190500" y="1619250"/>
              <a:ext cx="19242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3. SBERT AI MATCH</a:t>
              </a:r>
              <a:endParaRPr b="1" sz="16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Compares resume meaning against Job Requirements.</a:t>
              </a:r>
              <a:endParaRPr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7" name="Google Shape;167;p15"/>
          <p:cNvGrpSpPr/>
          <p:nvPr/>
        </p:nvGrpSpPr>
        <p:grpSpPr>
          <a:xfrm>
            <a:off x="9075420" y="1428750"/>
            <a:ext cx="2305200" cy="4762500"/>
            <a:chOff x="0" y="0"/>
            <a:chExt cx="2305200" cy="4762500"/>
          </a:xfrm>
        </p:grpSpPr>
        <p:sp>
          <p:nvSpPr>
            <p:cNvPr id="168" name="Google Shape;168;p15"/>
            <p:cNvSpPr/>
            <p:nvPr/>
          </p:nvSpPr>
          <p:spPr>
            <a:xfrm>
              <a:off x="0" y="0"/>
              <a:ext cx="2305200" cy="4762500"/>
            </a:xfrm>
            <a:prstGeom prst="roundRect">
              <a:avLst>
                <a:gd fmla="val 8264" name="adj"/>
              </a:avLst>
            </a:prstGeom>
            <a:solidFill>
              <a:srgbClr val="1E293B"/>
            </a:solidFill>
            <a:ln cap="flat" cmpd="sng" w="1905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15"/>
            <p:cNvSpPr/>
            <p:nvPr/>
          </p:nvSpPr>
          <p:spPr>
            <a:xfrm>
              <a:off x="171450" y="190500"/>
              <a:ext cx="762000" cy="266700"/>
            </a:xfrm>
            <a:prstGeom prst="roundRect">
              <a:avLst>
                <a:gd fmla="val 50000" name="adj"/>
              </a:avLst>
            </a:prstGeom>
            <a:solidFill>
              <a:srgbClr val="FFBF00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5"/>
            <p:cNvSpPr txBox="1"/>
            <p:nvPr/>
          </p:nvSpPr>
          <p:spPr>
            <a:xfrm>
              <a:off x="171450" y="190500"/>
              <a:ext cx="7620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FFBF00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STEP 04</a:t>
              </a:r>
              <a:endParaRPr b="1" sz="1000">
                <a:solidFill>
                  <a:srgbClr val="FFBF00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71" name="Google Shape;171;p15"/>
            <p:cNvSpPr/>
            <p:nvPr/>
          </p:nvSpPr>
          <p:spPr>
            <a:xfrm>
              <a:off x="190500" y="828675"/>
              <a:ext cx="533400" cy="533400"/>
            </a:xfrm>
            <a:prstGeom prst="ellipse">
              <a:avLst/>
            </a:prstGeom>
            <a:solidFill>
              <a:srgbClr val="0F172A"/>
            </a:solidFill>
            <a:ln cap="flat" cmpd="sng" w="1430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" name="Google Shape;172;p15"/>
            <p:cNvSpPr txBox="1"/>
            <p:nvPr/>
          </p:nvSpPr>
          <p:spPr>
            <a:xfrm>
              <a:off x="266700" y="93992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leaderboard</a:t>
              </a:r>
              <a:endParaRPr sz="24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73" name="Google Shape;173;p15"/>
            <p:cNvSpPr txBox="1"/>
            <p:nvPr/>
          </p:nvSpPr>
          <p:spPr>
            <a:xfrm>
              <a:off x="190500" y="1619250"/>
              <a:ext cx="19242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4. SCORE &amp; RANK</a:t>
              </a:r>
              <a:endParaRPr b="1" sz="16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Generates 0-100% score, Radar Chart, and leaderboard.</a:t>
              </a:r>
              <a:endParaRPr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6"/>
          <p:cNvSpPr txBox="1"/>
          <p:nvPr/>
        </p:nvSpPr>
        <p:spPr>
          <a:xfrm>
            <a:off x="731520" y="342900"/>
            <a:ext cx="106986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 b="1" sz="1100">
              <a:solidFill>
                <a:srgbClr val="00F7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79" name="Google Shape;179;p16"/>
          <p:cNvSpPr txBox="1"/>
          <p:nvPr/>
        </p:nvSpPr>
        <p:spPr>
          <a:xfrm>
            <a:off x="731520" y="609600"/>
            <a:ext cx="106986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Core ATS Scoring Formula</a:t>
            </a:r>
            <a:endParaRPr b="1" sz="2600">
              <a:solidFill>
                <a:srgbClr val="FFFF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80" name="Google Shape;180;p16"/>
          <p:cNvSpPr/>
          <p:nvPr/>
        </p:nvSpPr>
        <p:spPr>
          <a:xfrm>
            <a:off x="731520" y="1219200"/>
            <a:ext cx="10728900" cy="952500"/>
          </a:xfrm>
          <a:prstGeom prst="roundRect">
            <a:avLst>
              <a:gd fmla="val 16000" name="adj"/>
            </a:avLst>
          </a:prstGeom>
          <a:solidFill>
            <a:srgbClr val="1E293B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6"/>
          <p:cNvSpPr txBox="1"/>
          <p:nvPr/>
        </p:nvSpPr>
        <p:spPr>
          <a:xfrm>
            <a:off x="952500" y="1295400"/>
            <a:ext cx="10287000" cy="48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rPr>
              <a:t>HYBRID ATS SCORE FORMULA:</a:t>
            </a:r>
            <a:endParaRPr b="1" sz="1100">
              <a:solidFill>
                <a:srgbClr val="FFBF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FBF00"/>
                </a:solidFill>
                <a:latin typeface="Consolas"/>
                <a:ea typeface="Consolas"/>
                <a:cs typeface="Consolas"/>
                <a:sym typeface="Consolas"/>
              </a:rPr>
              <a:t>ATS Score</a:t>
            </a:r>
            <a:r>
              <a:rPr b="1" lang="en-US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= (</a:t>
            </a:r>
            <a:r>
              <a:rPr b="1" lang="en-US" sz="1700">
                <a:solidFill>
                  <a:srgbClr val="00F7FF"/>
                </a:solidFill>
                <a:latin typeface="Consolas"/>
                <a:ea typeface="Consolas"/>
                <a:cs typeface="Consolas"/>
                <a:sym typeface="Consolas"/>
              </a:rPr>
              <a:t>45% × SBERT AI Meaning</a:t>
            </a:r>
            <a:r>
              <a:rPr b="1" lang="en-US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 + (</a:t>
            </a:r>
            <a:r>
              <a:rPr b="1" lang="en-US" sz="1700">
                <a:solidFill>
                  <a:srgbClr val="FFBF00"/>
                </a:solidFill>
                <a:latin typeface="Consolas"/>
                <a:ea typeface="Consolas"/>
                <a:cs typeface="Consolas"/>
                <a:sym typeface="Consolas"/>
              </a:rPr>
              <a:t>35% × Skill Match</a:t>
            </a:r>
            <a:r>
              <a:rPr b="1" lang="en-US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 + (</a:t>
            </a:r>
            <a:r>
              <a:rPr b="1" lang="en-US" sz="1700">
                <a:solidFill>
                  <a:srgbClr val="10B981"/>
                </a:solidFill>
                <a:latin typeface="Consolas"/>
                <a:ea typeface="Consolas"/>
                <a:cs typeface="Consolas"/>
                <a:sym typeface="Consolas"/>
              </a:rPr>
              <a:t>20% × Keywords</a:t>
            </a:r>
            <a:r>
              <a:rPr b="1" lang="en-US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b="1" sz="17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16"/>
          <p:cNvSpPr/>
          <p:nvPr/>
        </p:nvSpPr>
        <p:spPr>
          <a:xfrm>
            <a:off x="731520" y="2400300"/>
            <a:ext cx="3385800" cy="4000500"/>
          </a:xfrm>
          <a:prstGeom prst="roundRect">
            <a:avLst>
              <a:gd fmla="val 5626" name="adj"/>
            </a:avLst>
          </a:prstGeom>
          <a:solidFill>
            <a:srgbClr val="1E293B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6"/>
          <p:cNvSpPr txBox="1"/>
          <p:nvPr/>
        </p:nvSpPr>
        <p:spPr>
          <a:xfrm>
            <a:off x="731520" y="2400300"/>
            <a:ext cx="3385800" cy="281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304800" lIns="266700" spcFirstLastPara="1" rIns="266700" wrap="square" tIns="304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psychology</a:t>
            </a:r>
            <a:endParaRPr sz="3200">
              <a:solidFill>
                <a:srgbClr val="00F7FF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45%</a:t>
            </a:r>
            <a:endParaRPr b="1" sz="4400">
              <a:solidFill>
                <a:srgbClr val="00F7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SBERT AI Meaning</a:t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Measures how well candidate experience conceptually matches the job requirements.</a:t>
            </a:r>
            <a:endParaRPr b="0" sz="13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/>
          <p:nvPr/>
        </p:nvSpPr>
        <p:spPr>
          <a:xfrm>
            <a:off x="4403122" y="2400300"/>
            <a:ext cx="3385800" cy="4000500"/>
          </a:xfrm>
          <a:prstGeom prst="roundRect">
            <a:avLst>
              <a:gd fmla="val 5626" name="adj"/>
            </a:avLst>
          </a:prstGeom>
          <a:solidFill>
            <a:srgbClr val="1E293B"/>
          </a:solidFill>
          <a:ln cap="flat" cmpd="sng" w="19050">
            <a:solidFill>
              <a:srgbClr val="FFBF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6"/>
          <p:cNvSpPr txBox="1"/>
          <p:nvPr/>
        </p:nvSpPr>
        <p:spPr>
          <a:xfrm>
            <a:off x="4403122" y="2400300"/>
            <a:ext cx="3385800" cy="2616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304800" lIns="266700" spcFirstLastPara="1" rIns="266700" wrap="square" tIns="304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fact_check</a:t>
            </a:r>
            <a:endParaRPr sz="3200">
              <a:solidFill>
                <a:srgbClr val="FFBF00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FFBF0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 b="1" sz="4400">
              <a:solidFill>
                <a:srgbClr val="FFBF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Skill Match Ratio</a:t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Checks what percentage of required core skills are present on candidate's resume.</a:t>
            </a:r>
            <a:endParaRPr b="0" sz="13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6"/>
          <p:cNvSpPr/>
          <p:nvPr/>
        </p:nvSpPr>
        <p:spPr>
          <a:xfrm>
            <a:off x="8074628" y="2400300"/>
            <a:ext cx="3385800" cy="4000500"/>
          </a:xfrm>
          <a:prstGeom prst="roundRect">
            <a:avLst>
              <a:gd fmla="val 5626" name="adj"/>
            </a:avLst>
          </a:prstGeom>
          <a:solidFill>
            <a:srgbClr val="1E293B"/>
          </a:solidFill>
          <a:ln cap="flat" cmpd="sng" w="1905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6"/>
          <p:cNvSpPr txBox="1"/>
          <p:nvPr/>
        </p:nvSpPr>
        <p:spPr>
          <a:xfrm>
            <a:off x="8074628" y="2400300"/>
            <a:ext cx="3385800" cy="281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304800" lIns="266700" spcFirstLastPara="1" rIns="266700" wrap="square" tIns="304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tag</a:t>
            </a:r>
            <a:endParaRPr sz="3200">
              <a:solidFill>
                <a:srgbClr val="10B981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10B98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20%</a:t>
            </a:r>
            <a:endParaRPr b="1" sz="4400">
              <a:solidFill>
                <a:srgbClr val="10B98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Exact Keywords</a:t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Rewards candidates who use exact industry terminology aligned with the job description.</a:t>
            </a:r>
            <a:endParaRPr b="0" sz="13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7"/>
          <p:cNvSpPr txBox="1"/>
          <p:nvPr/>
        </p:nvSpPr>
        <p:spPr>
          <a:xfrm>
            <a:off x="731520" y="320040"/>
            <a:ext cx="1069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/>
          </a:p>
        </p:txBody>
      </p:sp>
      <p:sp>
        <p:nvSpPr>
          <p:cNvPr id="193" name="Google Shape;193;p17"/>
          <p:cNvSpPr txBox="1"/>
          <p:nvPr/>
        </p:nvSpPr>
        <p:spPr>
          <a:xfrm>
            <a:off x="731520" y="594360"/>
            <a:ext cx="10698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How Does SBERT AI Understand Meaning?</a:t>
            </a:r>
            <a:endParaRPr/>
          </a:p>
        </p:txBody>
      </p:sp>
      <p:sp>
        <p:nvSpPr>
          <p:cNvPr id="194" name="Google Shape;194;p17"/>
          <p:cNvSpPr/>
          <p:nvPr/>
        </p:nvSpPr>
        <p:spPr>
          <a:xfrm>
            <a:off x="731520" y="1428750"/>
            <a:ext cx="5191200" cy="2190900"/>
          </a:xfrm>
          <a:prstGeom prst="roundRect">
            <a:avLst>
              <a:gd fmla="val 8695" name="adj"/>
            </a:avLst>
          </a:prstGeom>
          <a:solidFill>
            <a:srgbClr val="1E293B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7"/>
          <p:cNvSpPr txBox="1"/>
          <p:nvPr/>
        </p:nvSpPr>
        <p:spPr>
          <a:xfrm>
            <a:off x="998220" y="1619250"/>
            <a:ext cx="4657800" cy="18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transform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7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rPr>
              <a:t>Converts Text into AI Vectors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SBERT converts sentences into 384-dimensional number lists (vectors).</a:t>
            </a:r>
            <a:endParaRPr b="0" sz="13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7"/>
          <p:cNvSpPr/>
          <p:nvPr/>
        </p:nvSpPr>
        <p:spPr>
          <a:xfrm>
            <a:off x="6269355" y="1428750"/>
            <a:ext cx="5191200" cy="2190900"/>
          </a:xfrm>
          <a:prstGeom prst="roundRect">
            <a:avLst>
              <a:gd fmla="val 8695" name="adj"/>
            </a:avLst>
          </a:prstGeom>
          <a:solidFill>
            <a:srgbClr val="1E293B"/>
          </a:solidFill>
          <a:ln cap="flat" cmpd="sng" w="19050">
            <a:solidFill>
              <a:srgbClr val="FFB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7"/>
          <p:cNvSpPr txBox="1"/>
          <p:nvPr/>
        </p:nvSpPr>
        <p:spPr>
          <a:xfrm>
            <a:off x="6536055" y="1619250"/>
            <a:ext cx="4657800" cy="18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sync_alt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7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rPr>
              <a:t>Recognizes Synonyms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It knows that 'Deep Learning Neural Nets' matches 'Machine Learning Models'.</a:t>
            </a:r>
            <a:endParaRPr b="0" sz="13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7"/>
          <p:cNvSpPr/>
          <p:nvPr/>
        </p:nvSpPr>
        <p:spPr>
          <a:xfrm>
            <a:off x="731520" y="3905250"/>
            <a:ext cx="5191200" cy="2190900"/>
          </a:xfrm>
          <a:prstGeom prst="roundRect">
            <a:avLst>
              <a:gd fmla="val 8695" name="adj"/>
            </a:avLst>
          </a:prstGeom>
          <a:solidFill>
            <a:srgbClr val="1E293B"/>
          </a:solidFill>
          <a:ln cap="flat" cmpd="sng" w="19050">
            <a:solidFill>
              <a:srgbClr val="FFB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7"/>
          <p:cNvSpPr txBox="1"/>
          <p:nvPr/>
        </p:nvSpPr>
        <p:spPr>
          <a:xfrm>
            <a:off x="998220" y="4095750"/>
            <a:ext cx="4657800" cy="18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insights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7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rPr>
              <a:t>Cosine Distance Concept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Measures vector angle: Smaller angle = Closer meaning = Higher ATS Score!</a:t>
            </a:r>
            <a:endParaRPr b="0" sz="13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7"/>
          <p:cNvSpPr/>
          <p:nvPr/>
        </p:nvSpPr>
        <p:spPr>
          <a:xfrm>
            <a:off x="6269355" y="3905250"/>
            <a:ext cx="5191200" cy="2190900"/>
          </a:xfrm>
          <a:prstGeom prst="roundRect">
            <a:avLst>
              <a:gd fmla="val 8695" name="adj"/>
            </a:avLst>
          </a:prstGeom>
          <a:solidFill>
            <a:srgbClr val="1E293B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7"/>
          <p:cNvSpPr txBox="1"/>
          <p:nvPr/>
        </p:nvSpPr>
        <p:spPr>
          <a:xfrm>
            <a:off x="6536055" y="4095750"/>
            <a:ext cx="4657800" cy="18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bolt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7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rPr>
              <a:t>Fast &amp; Lightweight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Processes sentences in milliseconds, allowing rapid screening of hundreds of resumes.</a:t>
            </a:r>
            <a:endParaRPr b="0" sz="13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8"/>
          <p:cNvSpPr txBox="1"/>
          <p:nvPr/>
        </p:nvSpPr>
        <p:spPr>
          <a:xfrm>
            <a:off x="731520" y="320040"/>
            <a:ext cx="1069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/>
          </a:p>
        </p:txBody>
      </p:sp>
      <p:sp>
        <p:nvSpPr>
          <p:cNvPr id="207" name="Google Shape;207;p18"/>
          <p:cNvSpPr txBox="1"/>
          <p:nvPr/>
        </p:nvSpPr>
        <p:spPr>
          <a:xfrm>
            <a:off x="731520" y="594360"/>
            <a:ext cx="10698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7-Domain Technical Skill Taxonomy</a:t>
            </a:r>
            <a:endParaRPr/>
          </a:p>
        </p:txBody>
      </p:sp>
      <p:grpSp>
        <p:nvGrpSpPr>
          <p:cNvPr id="208" name="Google Shape;208;p18"/>
          <p:cNvGrpSpPr/>
          <p:nvPr/>
        </p:nvGrpSpPr>
        <p:grpSpPr>
          <a:xfrm>
            <a:off x="819150" y="1323975"/>
            <a:ext cx="2495700" cy="2114700"/>
            <a:chOff x="-9525" y="-9525"/>
            <a:chExt cx="2495700" cy="2114700"/>
          </a:xfrm>
        </p:grpSpPr>
        <p:pic>
          <p:nvPicPr>
            <p:cNvPr id="209" name="Google Shape;209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-9525" y="-9525"/>
              <a:ext cx="2495700" cy="211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0" name="Google Shape;210;p18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18"/>
            <p:cNvSpPr txBox="1"/>
            <p:nvPr/>
          </p:nvSpPr>
          <p:spPr>
            <a:xfrm>
              <a:off x="1905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code</a:t>
              </a:r>
              <a:endParaRPr sz="22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12" name="Google Shape;212;p18"/>
            <p:cNvSpPr txBox="1"/>
            <p:nvPr/>
          </p:nvSpPr>
          <p:spPr>
            <a:xfrm>
              <a:off x="190500" y="723900"/>
              <a:ext cx="2095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1. Programming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18"/>
            <p:cNvSpPr txBox="1"/>
            <p:nvPr/>
          </p:nvSpPr>
          <p:spPr>
            <a:xfrm>
              <a:off x="190500" y="1047750"/>
              <a:ext cx="20955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Python • Java • C++ • JavaScript • SQL • Rust</a:t>
              </a:r>
              <a:endParaRPr sz="12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18"/>
          <p:cNvGrpSpPr/>
          <p:nvPr/>
        </p:nvGrpSpPr>
        <p:grpSpPr>
          <a:xfrm>
            <a:off x="3505200" y="1323975"/>
            <a:ext cx="2495700" cy="2114700"/>
            <a:chOff x="-9525" y="-9525"/>
            <a:chExt cx="2495700" cy="2114700"/>
          </a:xfrm>
        </p:grpSpPr>
        <p:pic>
          <p:nvPicPr>
            <p:cNvPr id="215" name="Google Shape;215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-9525" y="-9525"/>
              <a:ext cx="2495700" cy="211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6" name="Google Shape;216;p18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FFBF00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18"/>
            <p:cNvSpPr txBox="1"/>
            <p:nvPr/>
          </p:nvSpPr>
          <p:spPr>
            <a:xfrm>
              <a:off x="1905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sz="22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18" name="Google Shape;218;p18"/>
            <p:cNvSpPr txBox="1"/>
            <p:nvPr/>
          </p:nvSpPr>
          <p:spPr>
            <a:xfrm>
              <a:off x="190500" y="723900"/>
              <a:ext cx="2095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2. Machine Learning &amp; AI</a:t>
              </a:r>
              <a:endParaRPr b="1" sz="15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8"/>
            <p:cNvSpPr txBox="1"/>
            <p:nvPr/>
          </p:nvSpPr>
          <p:spPr>
            <a:xfrm>
              <a:off x="190500" y="1047750"/>
              <a:ext cx="20955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PyTorch • TensorFlow • Scikit-Learn • SpaCy • LLMs</a:t>
              </a:r>
              <a:endParaRPr sz="12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18"/>
          <p:cNvGrpSpPr/>
          <p:nvPr/>
        </p:nvGrpSpPr>
        <p:grpSpPr>
          <a:xfrm>
            <a:off x="6191250" y="1323975"/>
            <a:ext cx="2495700" cy="2114700"/>
            <a:chOff x="-9525" y="-9525"/>
            <a:chExt cx="2495700" cy="2114700"/>
          </a:xfrm>
        </p:grpSpPr>
        <p:pic>
          <p:nvPicPr>
            <p:cNvPr id="221" name="Google Shape;221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-9525" y="-9525"/>
              <a:ext cx="2495700" cy="211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2" name="Google Shape;222;p18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18"/>
            <p:cNvSpPr txBox="1"/>
            <p:nvPr/>
          </p:nvSpPr>
          <p:spPr>
            <a:xfrm>
              <a:off x="1905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language</a:t>
              </a:r>
              <a:endParaRPr sz="22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24" name="Google Shape;224;p18"/>
            <p:cNvSpPr txBox="1"/>
            <p:nvPr/>
          </p:nvSpPr>
          <p:spPr>
            <a:xfrm>
              <a:off x="190500" y="723900"/>
              <a:ext cx="2095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3. Web Development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18"/>
            <p:cNvSpPr txBox="1"/>
            <p:nvPr/>
          </p:nvSpPr>
          <p:spPr>
            <a:xfrm>
              <a:off x="190500" y="1047750"/>
              <a:ext cx="20955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React • Node.js • FastAPI • Flask • Django • REST APIs</a:t>
              </a:r>
              <a:endParaRPr sz="12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6" name="Google Shape;226;p18"/>
          <p:cNvGrpSpPr/>
          <p:nvPr/>
        </p:nvGrpSpPr>
        <p:grpSpPr>
          <a:xfrm>
            <a:off x="8877300" y="1323975"/>
            <a:ext cx="2495700" cy="2114700"/>
            <a:chOff x="-9525" y="-9525"/>
            <a:chExt cx="2495700" cy="2114700"/>
          </a:xfrm>
        </p:grpSpPr>
        <p:pic>
          <p:nvPicPr>
            <p:cNvPr id="227" name="Google Shape;227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-9525" y="-9525"/>
              <a:ext cx="2495700" cy="211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8" name="Google Shape;228;p18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FFBF00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18"/>
            <p:cNvSpPr txBox="1"/>
            <p:nvPr/>
          </p:nvSpPr>
          <p:spPr>
            <a:xfrm>
              <a:off x="1905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cloud</a:t>
              </a:r>
              <a:endParaRPr sz="22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30" name="Google Shape;230;p18"/>
            <p:cNvSpPr txBox="1"/>
            <p:nvPr/>
          </p:nvSpPr>
          <p:spPr>
            <a:xfrm>
              <a:off x="190500" y="723900"/>
              <a:ext cx="2095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4. Cloud &amp; DevOps</a:t>
              </a:r>
              <a:endParaRPr b="1" sz="15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" name="Google Shape;231;p18"/>
            <p:cNvSpPr txBox="1"/>
            <p:nvPr/>
          </p:nvSpPr>
          <p:spPr>
            <a:xfrm>
              <a:off x="190500" y="1047750"/>
              <a:ext cx="20955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AWS • Azure • GCP • Docker • Kubernetes • Git</a:t>
              </a:r>
              <a:endParaRPr sz="12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2" name="Google Shape;232;p18"/>
          <p:cNvGrpSpPr/>
          <p:nvPr/>
        </p:nvGrpSpPr>
        <p:grpSpPr>
          <a:xfrm>
            <a:off x="819150" y="3657600"/>
            <a:ext cx="3352800" cy="2114700"/>
            <a:chOff x="-9525" y="-9525"/>
            <a:chExt cx="3352800" cy="2114700"/>
          </a:xfrm>
        </p:grpSpPr>
        <p:pic>
          <p:nvPicPr>
            <p:cNvPr id="233" name="Google Shape;233;p1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-9525" y="-9525"/>
              <a:ext cx="3352800" cy="211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4" name="Google Shape;234;p18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18"/>
            <p:cNvSpPr txBox="1"/>
            <p:nvPr/>
          </p:nvSpPr>
          <p:spPr>
            <a:xfrm>
              <a:off x="1905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storage</a:t>
              </a:r>
              <a:endParaRPr sz="22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36" name="Google Shape;236;p18"/>
            <p:cNvSpPr txBox="1"/>
            <p:nvPr/>
          </p:nvSpPr>
          <p:spPr>
            <a:xfrm>
              <a:off x="190500" y="723900"/>
              <a:ext cx="2952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5. Databases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7" name="Google Shape;237;p18"/>
            <p:cNvSpPr txBox="1"/>
            <p:nvPr/>
          </p:nvSpPr>
          <p:spPr>
            <a:xfrm>
              <a:off x="190500" y="1047750"/>
              <a:ext cx="29529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PostgreSQL • MySQL • MongoDB • Redis • SQLite</a:t>
              </a:r>
              <a:endParaRPr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8" name="Google Shape;238;p18"/>
          <p:cNvGrpSpPr/>
          <p:nvPr/>
        </p:nvGrpSpPr>
        <p:grpSpPr>
          <a:xfrm>
            <a:off x="4419600" y="3657600"/>
            <a:ext cx="3352800" cy="2114700"/>
            <a:chOff x="-9525" y="-9525"/>
            <a:chExt cx="3352800" cy="2114700"/>
          </a:xfrm>
        </p:grpSpPr>
        <p:pic>
          <p:nvPicPr>
            <p:cNvPr id="239" name="Google Shape;239;p1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-9525" y="-9525"/>
              <a:ext cx="3352800" cy="211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0" name="Google Shape;240;p18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FFBF00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18"/>
            <p:cNvSpPr txBox="1"/>
            <p:nvPr/>
          </p:nvSpPr>
          <p:spPr>
            <a:xfrm>
              <a:off x="1905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build</a:t>
              </a:r>
              <a:endParaRPr sz="22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42" name="Google Shape;242;p18"/>
            <p:cNvSpPr txBox="1"/>
            <p:nvPr/>
          </p:nvSpPr>
          <p:spPr>
            <a:xfrm>
              <a:off x="190500" y="723900"/>
              <a:ext cx="2952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6. Frameworks &amp; Tools</a:t>
              </a:r>
              <a:endParaRPr b="1" sz="15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3" name="Google Shape;243;p18"/>
            <p:cNvSpPr txBox="1"/>
            <p:nvPr/>
          </p:nvSpPr>
          <p:spPr>
            <a:xfrm>
              <a:off x="190500" y="1047750"/>
              <a:ext cx="29529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Pandas • NumPy • Matplotlib • Jupyter • VS Code</a:t>
              </a:r>
              <a:endParaRPr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4" name="Google Shape;244;p18"/>
          <p:cNvGrpSpPr/>
          <p:nvPr/>
        </p:nvGrpSpPr>
        <p:grpSpPr>
          <a:xfrm>
            <a:off x="8020050" y="3657600"/>
            <a:ext cx="3352800" cy="2114700"/>
            <a:chOff x="-9525" y="-9525"/>
            <a:chExt cx="3352800" cy="2114700"/>
          </a:xfrm>
        </p:grpSpPr>
        <p:pic>
          <p:nvPicPr>
            <p:cNvPr id="245" name="Google Shape;245;p1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-9525" y="-9525"/>
              <a:ext cx="3352800" cy="211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6" name="Google Shape;246;p18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8"/>
            <p:cNvSpPr txBox="1"/>
            <p:nvPr/>
          </p:nvSpPr>
          <p:spPr>
            <a:xfrm>
              <a:off x="1905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groups</a:t>
              </a:r>
              <a:endParaRPr sz="22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48" name="Google Shape;248;p18"/>
            <p:cNvSpPr txBox="1"/>
            <p:nvPr/>
          </p:nvSpPr>
          <p:spPr>
            <a:xfrm>
              <a:off x="190500" y="723900"/>
              <a:ext cx="2952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7. Soft Skills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9" name="Google Shape;249;p18"/>
            <p:cNvSpPr txBox="1"/>
            <p:nvPr/>
          </p:nvSpPr>
          <p:spPr>
            <a:xfrm>
              <a:off x="190500" y="1047750"/>
              <a:ext cx="29529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Leadership • Problem Solving • Communication • Teamwork</a:t>
              </a:r>
              <a:endParaRPr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9"/>
          <p:cNvSpPr txBox="1"/>
          <p:nvPr/>
        </p:nvSpPr>
        <p:spPr>
          <a:xfrm>
            <a:off x="731520" y="320040"/>
            <a:ext cx="1069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/>
          </a:p>
        </p:txBody>
      </p:sp>
      <p:sp>
        <p:nvSpPr>
          <p:cNvPr id="255" name="Google Shape;255;p19"/>
          <p:cNvSpPr txBox="1"/>
          <p:nvPr/>
        </p:nvSpPr>
        <p:spPr>
          <a:xfrm>
            <a:off x="731520" y="594360"/>
            <a:ext cx="10698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Resume Formatting &amp; Contact Audit</a:t>
            </a:r>
            <a:endParaRPr/>
          </a:p>
        </p:txBody>
      </p:sp>
      <p:grpSp>
        <p:nvGrpSpPr>
          <p:cNvPr id="256" name="Google Shape;256;p19"/>
          <p:cNvGrpSpPr/>
          <p:nvPr/>
        </p:nvGrpSpPr>
        <p:grpSpPr>
          <a:xfrm>
            <a:off x="731520" y="1428750"/>
            <a:ext cx="3448200" cy="2095500"/>
            <a:chOff x="0" y="0"/>
            <a:chExt cx="3448200" cy="2095500"/>
          </a:xfrm>
        </p:grpSpPr>
        <p:sp>
          <p:nvSpPr>
            <p:cNvPr id="257" name="Google Shape;257;p19"/>
            <p:cNvSpPr/>
            <p:nvPr/>
          </p:nvSpPr>
          <p:spPr>
            <a:xfrm>
              <a:off x="0" y="0"/>
              <a:ext cx="3448200" cy="2095500"/>
            </a:xfrm>
            <a:prstGeom prst="roundRect">
              <a:avLst>
                <a:gd fmla="val 9090" name="adj"/>
              </a:avLst>
            </a:prstGeom>
            <a:solidFill>
              <a:srgbClr val="1E293B"/>
            </a:solidFill>
            <a:ln cap="flat" cmpd="sng" w="1905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9"/>
            <p:cNvSpPr txBox="1"/>
            <p:nvPr/>
          </p:nvSpPr>
          <p:spPr>
            <a:xfrm>
              <a:off x="228600" y="228600"/>
              <a:ext cx="2991000" cy="163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contacts </a:t>
              </a:r>
              <a:r>
                <a:rPr b="1" lang="en-US" sz="16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1. Contact Information</a:t>
              </a:r>
              <a:endParaRPr b="0" sz="24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Extracts Email, 10-digit Phone Number, LinkedIn, and GitHub links cleanly.</a:t>
              </a:r>
              <a:endParaRPr b="0" sz="13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259" name="Google Shape;259;p19"/>
          <p:cNvGrpSpPr/>
          <p:nvPr/>
        </p:nvGrpSpPr>
        <p:grpSpPr>
          <a:xfrm>
            <a:off x="4371975" y="1428750"/>
            <a:ext cx="3448200" cy="2095500"/>
            <a:chOff x="0" y="0"/>
            <a:chExt cx="3448200" cy="2095500"/>
          </a:xfrm>
        </p:grpSpPr>
        <p:sp>
          <p:nvSpPr>
            <p:cNvPr id="260" name="Google Shape;260;p19"/>
            <p:cNvSpPr/>
            <p:nvPr/>
          </p:nvSpPr>
          <p:spPr>
            <a:xfrm>
              <a:off x="0" y="0"/>
              <a:ext cx="3448200" cy="2095500"/>
            </a:xfrm>
            <a:prstGeom prst="roundRect">
              <a:avLst>
                <a:gd fmla="val 9090" name="adj"/>
              </a:avLst>
            </a:prstGeom>
            <a:solidFill>
              <a:srgbClr val="1E293B"/>
            </a:solidFill>
            <a:ln cap="flat" cmpd="sng" w="1905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19"/>
            <p:cNvSpPr txBox="1"/>
            <p:nvPr/>
          </p:nvSpPr>
          <p:spPr>
            <a:xfrm>
              <a:off x="228600" y="228600"/>
              <a:ext cx="2991000" cy="163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pin </a:t>
              </a:r>
              <a:r>
                <a:rPr b="1" lang="en-US" sz="16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2. Word Count Check</a:t>
              </a:r>
              <a:endParaRPr b="0" sz="24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Ensures resume is not too short (&lt;300 words) or too long (&gt;1500 words).</a:t>
              </a:r>
              <a:endParaRPr b="0" sz="13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262" name="Google Shape;262;p19"/>
          <p:cNvGrpSpPr/>
          <p:nvPr/>
        </p:nvGrpSpPr>
        <p:grpSpPr>
          <a:xfrm>
            <a:off x="8012430" y="1428750"/>
            <a:ext cx="3448200" cy="2095500"/>
            <a:chOff x="0" y="0"/>
            <a:chExt cx="3448200" cy="2095500"/>
          </a:xfrm>
        </p:grpSpPr>
        <p:sp>
          <p:nvSpPr>
            <p:cNvPr id="263" name="Google Shape;263;p19"/>
            <p:cNvSpPr/>
            <p:nvPr/>
          </p:nvSpPr>
          <p:spPr>
            <a:xfrm>
              <a:off x="0" y="0"/>
              <a:ext cx="3448200" cy="2095500"/>
            </a:xfrm>
            <a:prstGeom prst="roundRect">
              <a:avLst>
                <a:gd fmla="val 9090" name="adj"/>
              </a:avLst>
            </a:prstGeom>
            <a:solidFill>
              <a:srgbClr val="1E293B"/>
            </a:solidFill>
            <a:ln cap="flat" cmpd="sng" w="1905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9"/>
            <p:cNvSpPr txBox="1"/>
            <p:nvPr/>
          </p:nvSpPr>
          <p:spPr>
            <a:xfrm>
              <a:off x="228600" y="228600"/>
              <a:ext cx="2991000" cy="163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view_list </a:t>
              </a:r>
              <a:r>
                <a:rPr b="1" lang="en-US" sz="16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3. Essential Sections</a:t>
              </a:r>
              <a:endParaRPr b="0" sz="24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Verifies presence of Education, Experience, Skills, and Projects sections.</a:t>
              </a:r>
              <a:endParaRPr b="0" sz="13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265" name="Google Shape;265;p19"/>
          <p:cNvGrpSpPr/>
          <p:nvPr/>
        </p:nvGrpSpPr>
        <p:grpSpPr>
          <a:xfrm>
            <a:off x="731520" y="3762375"/>
            <a:ext cx="5267400" cy="2095500"/>
            <a:chOff x="0" y="0"/>
            <a:chExt cx="5267400" cy="2095500"/>
          </a:xfrm>
        </p:grpSpPr>
        <p:sp>
          <p:nvSpPr>
            <p:cNvPr id="266" name="Google Shape;266;p19"/>
            <p:cNvSpPr/>
            <p:nvPr/>
          </p:nvSpPr>
          <p:spPr>
            <a:xfrm>
              <a:off x="0" y="0"/>
              <a:ext cx="5267400" cy="2095500"/>
            </a:xfrm>
            <a:prstGeom prst="roundRect">
              <a:avLst>
                <a:gd fmla="val 9090" name="adj"/>
              </a:avLst>
            </a:prstGeom>
            <a:solidFill>
              <a:srgbClr val="1E293B"/>
            </a:solidFill>
            <a:ln cap="flat" cmpd="sng" w="1905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19"/>
            <p:cNvSpPr txBox="1"/>
            <p:nvPr/>
          </p:nvSpPr>
          <p:spPr>
            <a:xfrm>
              <a:off x="228600" y="228600"/>
              <a:ext cx="4810200" cy="163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bolt </a:t>
              </a:r>
              <a:r>
                <a:rPr b="1" lang="en-US" sz="16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4. Strong Action Verbs</a:t>
              </a:r>
              <a:endParaRPr b="0" sz="24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Scans for strong impact verbs (Designed, Developed, Optimized, Implemented).</a:t>
              </a:r>
              <a:endParaRPr b="0" sz="13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268" name="Google Shape;268;p19"/>
          <p:cNvGrpSpPr/>
          <p:nvPr/>
        </p:nvGrpSpPr>
        <p:grpSpPr>
          <a:xfrm>
            <a:off x="6193155" y="3762375"/>
            <a:ext cx="5267400" cy="2095500"/>
            <a:chOff x="0" y="0"/>
            <a:chExt cx="5267400" cy="2095500"/>
          </a:xfrm>
        </p:grpSpPr>
        <p:sp>
          <p:nvSpPr>
            <p:cNvPr id="269" name="Google Shape;269;p19"/>
            <p:cNvSpPr/>
            <p:nvPr/>
          </p:nvSpPr>
          <p:spPr>
            <a:xfrm>
              <a:off x="0" y="0"/>
              <a:ext cx="5267400" cy="2095500"/>
            </a:xfrm>
            <a:prstGeom prst="roundRect">
              <a:avLst>
                <a:gd fmla="val 9090" name="adj"/>
              </a:avLst>
            </a:prstGeom>
            <a:solidFill>
              <a:srgbClr val="1E293B"/>
            </a:solidFill>
            <a:ln cap="flat" cmpd="sng" w="1905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19"/>
            <p:cNvSpPr txBox="1"/>
            <p:nvPr/>
          </p:nvSpPr>
          <p:spPr>
            <a:xfrm>
              <a:off x="228600" y="228600"/>
              <a:ext cx="4810200" cy="163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insights </a:t>
              </a:r>
              <a:r>
                <a:rPr b="1" lang="en-US" sz="16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5. Skill Gap Feedback</a:t>
              </a:r>
              <a:endParaRPr b="0" sz="24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Generates an instant list of missing required skills for candidate improvement.</a:t>
              </a:r>
              <a:endParaRPr b="0" sz="13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0"/>
          <p:cNvSpPr txBox="1"/>
          <p:nvPr/>
        </p:nvSpPr>
        <p:spPr>
          <a:xfrm>
            <a:off x="731520" y="320040"/>
            <a:ext cx="1069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/>
          </a:p>
        </p:txBody>
      </p:sp>
      <p:sp>
        <p:nvSpPr>
          <p:cNvPr id="276" name="Google Shape;276;p20"/>
          <p:cNvSpPr txBox="1"/>
          <p:nvPr/>
        </p:nvSpPr>
        <p:spPr>
          <a:xfrm>
            <a:off x="731520" y="594360"/>
            <a:ext cx="10698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Streamlit Dashboard &amp; SQLite Audit Logging</a:t>
            </a: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731520" y="1314450"/>
            <a:ext cx="10728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DASHBOARD HIGHLIGHTS</a:t>
            </a:r>
            <a:endParaRPr b="1" sz="1100">
              <a:solidFill>
                <a:srgbClr val="00F7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278" name="Google Shape;278;p20"/>
          <p:cNvGrpSpPr/>
          <p:nvPr/>
        </p:nvGrpSpPr>
        <p:grpSpPr>
          <a:xfrm>
            <a:off x="721995" y="1590675"/>
            <a:ext cx="3390900" cy="2019300"/>
            <a:chOff x="-9525" y="-9525"/>
            <a:chExt cx="3390900" cy="2019300"/>
          </a:xfrm>
        </p:grpSpPr>
        <p:pic>
          <p:nvPicPr>
            <p:cNvPr id="279" name="Google Shape;279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-9525" y="-9525"/>
              <a:ext cx="3390900" cy="2019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0" name="Google Shape;280;p20"/>
            <p:cNvSpPr/>
            <p:nvPr/>
          </p:nvSpPr>
          <p:spPr>
            <a:xfrm>
              <a:off x="190500" y="1905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20"/>
            <p:cNvSpPr txBox="1"/>
            <p:nvPr/>
          </p:nvSpPr>
          <p:spPr>
            <a:xfrm>
              <a:off x="190500" y="21971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web</a:t>
              </a:r>
              <a:endParaRPr sz="20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82" name="Google Shape;282;p20"/>
            <p:cNvSpPr txBox="1"/>
            <p:nvPr/>
          </p:nvSpPr>
          <p:spPr>
            <a:xfrm>
              <a:off x="190500" y="685800"/>
              <a:ext cx="29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Streamlit Web App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Clean dark mode user interface accessible in web browser.</a:t>
              </a:r>
              <a:endParaRPr b="0"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3" name="Google Shape;283;p20"/>
          <p:cNvGrpSpPr/>
          <p:nvPr/>
        </p:nvGrpSpPr>
        <p:grpSpPr>
          <a:xfrm>
            <a:off x="4398645" y="1590675"/>
            <a:ext cx="3390900" cy="2019300"/>
            <a:chOff x="-9525" y="-9525"/>
            <a:chExt cx="3390900" cy="2019300"/>
          </a:xfrm>
        </p:grpSpPr>
        <p:pic>
          <p:nvPicPr>
            <p:cNvPr id="284" name="Google Shape;284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-9525" y="-9525"/>
              <a:ext cx="3390900" cy="2019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5" name="Google Shape;285;p20"/>
            <p:cNvSpPr/>
            <p:nvPr/>
          </p:nvSpPr>
          <p:spPr>
            <a:xfrm>
              <a:off x="190500" y="1905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20"/>
            <p:cNvSpPr txBox="1"/>
            <p:nvPr/>
          </p:nvSpPr>
          <p:spPr>
            <a:xfrm>
              <a:off x="190500" y="21971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touch_app</a:t>
              </a:r>
              <a:endParaRPr sz="20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87" name="Google Shape;287;p20"/>
            <p:cNvSpPr txBox="1"/>
            <p:nvPr/>
          </p:nvSpPr>
          <p:spPr>
            <a:xfrm>
              <a:off x="190500" y="685800"/>
              <a:ext cx="29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Preset Demo Button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One-click 'Load Preset Sample ML Data' for fast live demonstration.</a:t>
              </a:r>
              <a:endParaRPr b="0"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8" name="Google Shape;288;p20"/>
          <p:cNvGrpSpPr/>
          <p:nvPr/>
        </p:nvGrpSpPr>
        <p:grpSpPr>
          <a:xfrm>
            <a:off x="8075295" y="1590675"/>
            <a:ext cx="3390900" cy="2019300"/>
            <a:chOff x="-9525" y="-9525"/>
            <a:chExt cx="3390900" cy="2019300"/>
          </a:xfrm>
        </p:grpSpPr>
        <p:pic>
          <p:nvPicPr>
            <p:cNvPr id="289" name="Google Shape;289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-9525" y="-9525"/>
              <a:ext cx="3390900" cy="2019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0" name="Google Shape;290;p20"/>
            <p:cNvSpPr/>
            <p:nvPr/>
          </p:nvSpPr>
          <p:spPr>
            <a:xfrm>
              <a:off x="190500" y="1905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20"/>
            <p:cNvSpPr txBox="1"/>
            <p:nvPr/>
          </p:nvSpPr>
          <p:spPr>
            <a:xfrm>
              <a:off x="190500" y="21971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analytics</a:t>
              </a:r>
              <a:endParaRPr sz="20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2" name="Google Shape;292;p20"/>
            <p:cNvSpPr txBox="1"/>
            <p:nvPr/>
          </p:nvSpPr>
          <p:spPr>
            <a:xfrm>
              <a:off x="190500" y="685800"/>
              <a:ext cx="29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Plotly Radar Chart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Visual chart comparing candidate skills vs job requirements.</a:t>
              </a:r>
              <a:endParaRPr b="0"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3" name="Google Shape;293;p20"/>
          <p:cNvSpPr txBox="1"/>
          <p:nvPr/>
        </p:nvSpPr>
        <p:spPr>
          <a:xfrm>
            <a:off x="731520" y="3848100"/>
            <a:ext cx="10728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BF0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DATABASE &amp; LEADERBOARD</a:t>
            </a:r>
            <a:endParaRPr b="1" sz="1100">
              <a:solidFill>
                <a:srgbClr val="FFBF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294" name="Google Shape;294;p20"/>
          <p:cNvGrpSpPr/>
          <p:nvPr/>
        </p:nvGrpSpPr>
        <p:grpSpPr>
          <a:xfrm>
            <a:off x="721995" y="4124325"/>
            <a:ext cx="3390900" cy="2019300"/>
            <a:chOff x="-9525" y="-9525"/>
            <a:chExt cx="3390900" cy="2019300"/>
          </a:xfrm>
        </p:grpSpPr>
        <p:pic>
          <p:nvPicPr>
            <p:cNvPr id="295" name="Google Shape;295;p2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-9525" y="-9525"/>
              <a:ext cx="3390900" cy="2019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6" name="Google Shape;296;p20"/>
            <p:cNvSpPr/>
            <p:nvPr/>
          </p:nvSpPr>
          <p:spPr>
            <a:xfrm>
              <a:off x="190500" y="1905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FFBF00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20"/>
            <p:cNvSpPr txBox="1"/>
            <p:nvPr/>
          </p:nvSpPr>
          <p:spPr>
            <a:xfrm>
              <a:off x="190500" y="21971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leaderboard</a:t>
              </a:r>
              <a:endParaRPr sz="20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8" name="Google Shape;298;p20"/>
            <p:cNvSpPr txBox="1"/>
            <p:nvPr/>
          </p:nvSpPr>
          <p:spPr>
            <a:xfrm>
              <a:off x="190500" y="685800"/>
              <a:ext cx="29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Batch Leaderboard</a:t>
              </a:r>
              <a:endParaRPr b="1" sz="15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Upload 10+ resumes at once to rank candidates from highest to lowest score.</a:t>
              </a:r>
              <a:endParaRPr b="0"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20"/>
          <p:cNvGrpSpPr/>
          <p:nvPr/>
        </p:nvGrpSpPr>
        <p:grpSpPr>
          <a:xfrm>
            <a:off x="4398645" y="4124325"/>
            <a:ext cx="3390900" cy="2019300"/>
            <a:chOff x="-9525" y="-9525"/>
            <a:chExt cx="3390900" cy="2019300"/>
          </a:xfrm>
        </p:grpSpPr>
        <p:pic>
          <p:nvPicPr>
            <p:cNvPr id="300" name="Google Shape;300;p2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-9525" y="-9525"/>
              <a:ext cx="3390900" cy="2019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01" name="Google Shape;301;p20"/>
            <p:cNvSpPr/>
            <p:nvPr/>
          </p:nvSpPr>
          <p:spPr>
            <a:xfrm>
              <a:off x="190500" y="1905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FFBF00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20"/>
            <p:cNvSpPr txBox="1"/>
            <p:nvPr/>
          </p:nvSpPr>
          <p:spPr>
            <a:xfrm>
              <a:off x="190500" y="21971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storage</a:t>
              </a:r>
              <a:endParaRPr sz="20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3" name="Google Shape;303;p20"/>
            <p:cNvSpPr txBox="1"/>
            <p:nvPr/>
          </p:nvSpPr>
          <p:spPr>
            <a:xfrm>
              <a:off x="190500" y="685800"/>
              <a:ext cx="29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SQLite History Log</a:t>
              </a:r>
              <a:endParaRPr b="1" sz="15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Saves evaluation history into ats_history.db database.</a:t>
              </a:r>
              <a:endParaRPr b="0"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4" name="Google Shape;304;p20"/>
          <p:cNvGrpSpPr/>
          <p:nvPr/>
        </p:nvGrpSpPr>
        <p:grpSpPr>
          <a:xfrm>
            <a:off x="8075295" y="4124325"/>
            <a:ext cx="3390900" cy="2019300"/>
            <a:chOff x="-9525" y="-9525"/>
            <a:chExt cx="3390900" cy="2019300"/>
          </a:xfrm>
        </p:grpSpPr>
        <p:pic>
          <p:nvPicPr>
            <p:cNvPr id="305" name="Google Shape;305;p2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-9525" y="-9525"/>
              <a:ext cx="3390900" cy="2019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06" name="Google Shape;306;p20"/>
            <p:cNvSpPr/>
            <p:nvPr/>
          </p:nvSpPr>
          <p:spPr>
            <a:xfrm>
              <a:off x="190500" y="190500"/>
              <a:ext cx="381000" cy="381000"/>
            </a:xfrm>
            <a:prstGeom prst="roundRect">
              <a:avLst>
                <a:gd fmla="val 20000" name="adj"/>
              </a:avLst>
            </a:prstGeom>
            <a:solidFill>
              <a:srgbClr val="FFBF00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20"/>
            <p:cNvSpPr txBox="1"/>
            <p:nvPr/>
          </p:nvSpPr>
          <p:spPr>
            <a:xfrm>
              <a:off x="190500" y="21971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restart_alt</a:t>
              </a:r>
              <a:endParaRPr sz="20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8" name="Google Shape;308;p20"/>
            <p:cNvSpPr txBox="1"/>
            <p:nvPr/>
          </p:nvSpPr>
          <p:spPr>
            <a:xfrm>
              <a:off x="190500" y="685800"/>
              <a:ext cx="29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Clear History Feature</a:t>
              </a:r>
              <a:endParaRPr b="1" sz="15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Includes a one-click 'Clear Audit Logs' button to reset database records.</a:t>
              </a:r>
              <a:endParaRPr b="0"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1"/>
          <p:cNvSpPr txBox="1"/>
          <p:nvPr/>
        </p:nvSpPr>
        <p:spPr>
          <a:xfrm>
            <a:off x="731520" y="320040"/>
            <a:ext cx="1069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/>
          </a:p>
        </p:txBody>
      </p:sp>
      <p:sp>
        <p:nvSpPr>
          <p:cNvPr id="314" name="Google Shape;314;p21"/>
          <p:cNvSpPr txBox="1"/>
          <p:nvPr/>
        </p:nvSpPr>
        <p:spPr>
          <a:xfrm>
            <a:off x="731520" y="594360"/>
            <a:ext cx="10698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System Latency &amp; Performance Benchmarks</a:t>
            </a:r>
            <a:endParaRPr/>
          </a:p>
        </p:txBody>
      </p:sp>
      <p:grpSp>
        <p:nvGrpSpPr>
          <p:cNvPr id="315" name="Google Shape;315;p21"/>
          <p:cNvGrpSpPr/>
          <p:nvPr/>
        </p:nvGrpSpPr>
        <p:grpSpPr>
          <a:xfrm>
            <a:off x="731520" y="1371600"/>
            <a:ext cx="5143500" cy="4846200"/>
            <a:chOff x="0" y="0"/>
            <a:chExt cx="5143500" cy="4846200"/>
          </a:xfrm>
        </p:grpSpPr>
        <p:sp>
          <p:nvSpPr>
            <p:cNvPr id="316" name="Google Shape;316;p21"/>
            <p:cNvSpPr/>
            <p:nvPr/>
          </p:nvSpPr>
          <p:spPr>
            <a:xfrm>
              <a:off x="0" y="0"/>
              <a:ext cx="5143500" cy="4846200"/>
            </a:xfrm>
            <a:prstGeom prst="roundRect">
              <a:avLst>
                <a:gd fmla="val 3930" name="adj"/>
              </a:avLst>
            </a:prstGeom>
            <a:solidFill>
              <a:srgbClr val="1E293B"/>
            </a:solidFill>
            <a:ln cap="flat" cmpd="sng" w="1905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21"/>
            <p:cNvSpPr txBox="1"/>
            <p:nvPr/>
          </p:nvSpPr>
          <p:spPr>
            <a:xfrm>
              <a:off x="266700" y="228600"/>
              <a:ext cx="46101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BF00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TEST CASE: ML ENGINEER</a:t>
              </a:r>
              <a:endParaRPr b="1" sz="1500">
                <a:solidFill>
                  <a:srgbClr val="FFBF00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318" name="Google Shape;318;p21"/>
            <p:cNvSpPr/>
            <p:nvPr/>
          </p:nvSpPr>
          <p:spPr>
            <a:xfrm>
              <a:off x="266700" y="666750"/>
              <a:ext cx="4610100" cy="1047900"/>
            </a:xfrm>
            <a:prstGeom prst="roundRect">
              <a:avLst>
                <a:gd fmla="val 12727" name="adj"/>
              </a:avLst>
            </a:prstGeom>
            <a:solidFill>
              <a:srgbClr val="0F172A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p21"/>
            <p:cNvSpPr txBox="1"/>
            <p:nvPr/>
          </p:nvSpPr>
          <p:spPr>
            <a:xfrm>
              <a:off x="457200" y="762000"/>
              <a:ext cx="42291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FINAL ATS MATCH SCORE</a:t>
              </a:r>
              <a:endParaRPr b="1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32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87.5% </a:t>
              </a:r>
              <a:r>
                <a:rPr b="1" lang="en-US" sz="14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(STRONG MATCH)</a:t>
              </a:r>
              <a:endParaRPr b="0" sz="32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" name="Google Shape;320;p21"/>
            <p:cNvSpPr/>
            <p:nvPr/>
          </p:nvSpPr>
          <p:spPr>
            <a:xfrm>
              <a:off x="266700" y="1905000"/>
              <a:ext cx="4610100" cy="800100"/>
            </a:xfrm>
            <a:prstGeom prst="roundRect">
              <a:avLst>
                <a:gd fmla="val 11904" name="adj"/>
              </a:avLst>
            </a:prstGeom>
            <a:solidFill>
              <a:srgbClr val="0F172A">
                <a:alpha val="6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21"/>
            <p:cNvSpPr txBox="1"/>
            <p:nvPr/>
          </p:nvSpPr>
          <p:spPr>
            <a:xfrm>
              <a:off x="419100" y="2000250"/>
              <a:ext cx="43053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450"/>
                </a:spcAft>
                <a:buNone/>
              </a:pPr>
              <a:r>
                <a:rPr b="1" lang="en-US" sz="13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SBERT AI Meaning</a:t>
              </a:r>
              <a:r>
                <a:rPr lang="en-US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en-US" sz="13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88.0% </a:t>
              </a:r>
              <a:r>
                <a:rPr b="0" lang="en-US" sz="1100">
                  <a:solidFill>
                    <a:srgbClr val="CBD5E1"/>
                  </a:solidFill>
                  <a:latin typeface="Calibri"/>
                  <a:ea typeface="Calibri"/>
                  <a:cs typeface="Calibri"/>
                  <a:sym typeface="Calibri"/>
                </a:rPr>
                <a:t>(High Match)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21"/>
            <p:cNvSpPr/>
            <p:nvPr/>
          </p:nvSpPr>
          <p:spPr>
            <a:xfrm>
              <a:off x="266700" y="2838450"/>
              <a:ext cx="4610100" cy="800100"/>
            </a:xfrm>
            <a:prstGeom prst="roundRect">
              <a:avLst>
                <a:gd fmla="val 11904" name="adj"/>
              </a:avLst>
            </a:prstGeom>
            <a:solidFill>
              <a:srgbClr val="0F172A">
                <a:alpha val="6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21"/>
            <p:cNvSpPr txBox="1"/>
            <p:nvPr/>
          </p:nvSpPr>
          <p:spPr>
            <a:xfrm>
              <a:off x="419100" y="2933700"/>
              <a:ext cx="43053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450"/>
                </a:spcAft>
                <a:buNone/>
              </a:pPr>
              <a:r>
                <a:rPr b="1" lang="en-US" sz="13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Skill Match Ratio</a:t>
              </a:r>
              <a:r>
                <a:rPr lang="en-US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en-US" sz="13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85.0% </a:t>
              </a:r>
              <a:r>
                <a:rPr b="0" lang="en-US" sz="1100">
                  <a:solidFill>
                    <a:srgbClr val="CBD5E1"/>
                  </a:solidFill>
                  <a:latin typeface="Calibri"/>
                  <a:ea typeface="Calibri"/>
                  <a:cs typeface="Calibri"/>
                  <a:sym typeface="Calibri"/>
                </a:rPr>
                <a:t>(17 of 20 Skills)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" name="Google Shape;324;p21"/>
            <p:cNvSpPr/>
            <p:nvPr/>
          </p:nvSpPr>
          <p:spPr>
            <a:xfrm>
              <a:off x="266700" y="3771900"/>
              <a:ext cx="4610100" cy="800100"/>
            </a:xfrm>
            <a:prstGeom prst="roundRect">
              <a:avLst>
                <a:gd fmla="val 11904" name="adj"/>
              </a:avLst>
            </a:prstGeom>
            <a:solidFill>
              <a:srgbClr val="0F172A">
                <a:alpha val="6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21"/>
            <p:cNvSpPr txBox="1"/>
            <p:nvPr/>
          </p:nvSpPr>
          <p:spPr>
            <a:xfrm>
              <a:off x="419100" y="3867150"/>
              <a:ext cx="43053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450"/>
                </a:spcAft>
                <a:buNone/>
              </a:pPr>
              <a:r>
                <a:rPr b="1" lang="en-US" sz="13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Keyword Frequency</a:t>
              </a:r>
              <a:r>
                <a:rPr lang="en-US"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b="1" lang="en-US" sz="13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89.0% </a:t>
              </a:r>
              <a:r>
                <a:rPr b="0" lang="en-US" sz="1100">
                  <a:solidFill>
                    <a:srgbClr val="CBD5E1"/>
                  </a:solidFill>
                  <a:latin typeface="Calibri"/>
                  <a:ea typeface="Calibri"/>
                  <a:cs typeface="Calibri"/>
                  <a:sym typeface="Calibri"/>
                </a:rPr>
                <a:t>(Strong Fit)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6" name="Google Shape;326;p21"/>
          <p:cNvSpPr txBox="1"/>
          <p:nvPr/>
        </p:nvSpPr>
        <p:spPr>
          <a:xfrm>
            <a:off x="6217920" y="1371600"/>
            <a:ext cx="5242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SPEED &amp; SYSTEM BENCHMARKS</a:t>
            </a:r>
            <a:endParaRPr b="1" sz="1500">
              <a:solidFill>
                <a:srgbClr val="00F7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327" name="Google Shape;327;p21"/>
          <p:cNvGrpSpPr/>
          <p:nvPr/>
        </p:nvGrpSpPr>
        <p:grpSpPr>
          <a:xfrm>
            <a:off x="6217920" y="1752600"/>
            <a:ext cx="5242500" cy="1371600"/>
            <a:chOff x="0" y="0"/>
            <a:chExt cx="5242500" cy="1371600"/>
          </a:xfrm>
        </p:grpSpPr>
        <p:sp>
          <p:nvSpPr>
            <p:cNvPr id="328" name="Google Shape;328;p21"/>
            <p:cNvSpPr/>
            <p:nvPr/>
          </p:nvSpPr>
          <p:spPr>
            <a:xfrm>
              <a:off x="0" y="0"/>
              <a:ext cx="5242500" cy="1371600"/>
            </a:xfrm>
            <a:prstGeom prst="roundRect">
              <a:avLst>
                <a:gd fmla="val 11111" name="adj"/>
              </a:avLst>
            </a:prstGeom>
            <a:solidFill>
              <a:srgbClr val="1E293B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21"/>
            <p:cNvSpPr/>
            <p:nvPr/>
          </p:nvSpPr>
          <p:spPr>
            <a:xfrm>
              <a:off x="190500" y="228600"/>
              <a:ext cx="495300" cy="495300"/>
            </a:xfrm>
            <a:prstGeom prst="roundRect">
              <a:avLst>
                <a:gd fmla="val 23076" name="adj"/>
              </a:avLst>
            </a:prstGeom>
            <a:solidFill>
              <a:srgbClr val="00F7FF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21"/>
            <p:cNvSpPr txBox="1"/>
            <p:nvPr/>
          </p:nvSpPr>
          <p:spPr>
            <a:xfrm>
              <a:off x="190500" y="263652"/>
              <a:ext cx="4953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speed</a:t>
              </a:r>
              <a:endParaRPr sz="24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31" name="Google Shape;331;p21"/>
            <p:cNvSpPr txBox="1"/>
            <p:nvPr/>
          </p:nvSpPr>
          <p:spPr>
            <a:xfrm>
              <a:off x="838200" y="190500"/>
              <a:ext cx="4191000" cy="990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SUPER-FAST LATENCY</a:t>
              </a:r>
              <a:endParaRPr b="1" sz="12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&lt; 1.8 Seconds</a:t>
              </a:r>
              <a:endParaRPr b="0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Processes each candidate resume seamlessly in record speed.</a:t>
              </a:r>
              <a:endParaRPr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21"/>
          <p:cNvGrpSpPr/>
          <p:nvPr/>
        </p:nvGrpSpPr>
        <p:grpSpPr>
          <a:xfrm>
            <a:off x="6217920" y="3295650"/>
            <a:ext cx="5242500" cy="1371600"/>
            <a:chOff x="0" y="0"/>
            <a:chExt cx="5242500" cy="1371600"/>
          </a:xfrm>
        </p:grpSpPr>
        <p:sp>
          <p:nvSpPr>
            <p:cNvPr id="333" name="Google Shape;333;p21"/>
            <p:cNvSpPr/>
            <p:nvPr/>
          </p:nvSpPr>
          <p:spPr>
            <a:xfrm>
              <a:off x="0" y="0"/>
              <a:ext cx="5242500" cy="1371600"/>
            </a:xfrm>
            <a:prstGeom prst="roundRect">
              <a:avLst>
                <a:gd fmla="val 11111" name="adj"/>
              </a:avLst>
            </a:prstGeom>
            <a:solidFill>
              <a:srgbClr val="1E293B"/>
            </a:solidFill>
            <a:ln cap="flat" cmpd="sng" w="1430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21"/>
            <p:cNvSpPr/>
            <p:nvPr/>
          </p:nvSpPr>
          <p:spPr>
            <a:xfrm>
              <a:off x="190500" y="228600"/>
              <a:ext cx="495300" cy="495300"/>
            </a:xfrm>
            <a:prstGeom prst="roundRect">
              <a:avLst>
                <a:gd fmla="val 23076" name="adj"/>
              </a:avLst>
            </a:prstGeom>
            <a:solidFill>
              <a:srgbClr val="FFBF00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21"/>
            <p:cNvSpPr txBox="1"/>
            <p:nvPr/>
          </p:nvSpPr>
          <p:spPr>
            <a:xfrm>
              <a:off x="190500" y="263652"/>
              <a:ext cx="4953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memory</a:t>
              </a:r>
              <a:endParaRPr sz="24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36" name="Google Shape;336;p21"/>
            <p:cNvSpPr txBox="1"/>
            <p:nvPr/>
          </p:nvSpPr>
          <p:spPr>
            <a:xfrm>
              <a:off x="838200" y="190500"/>
              <a:ext cx="4191000" cy="990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LOW RAM USAGE</a:t>
              </a:r>
              <a:endParaRPr b="1" sz="12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&lt; 250 MB Memory</a:t>
              </a:r>
              <a:endParaRPr b="0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Minimal RAM consumption during active candidate evaluations.</a:t>
              </a:r>
              <a:endParaRPr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7" name="Google Shape;337;p21"/>
          <p:cNvGrpSpPr/>
          <p:nvPr/>
        </p:nvGrpSpPr>
        <p:grpSpPr>
          <a:xfrm>
            <a:off x="6217920" y="4838700"/>
            <a:ext cx="5242500" cy="1371600"/>
            <a:chOff x="0" y="0"/>
            <a:chExt cx="5242500" cy="1371600"/>
          </a:xfrm>
        </p:grpSpPr>
        <p:sp>
          <p:nvSpPr>
            <p:cNvPr id="338" name="Google Shape;338;p21"/>
            <p:cNvSpPr/>
            <p:nvPr/>
          </p:nvSpPr>
          <p:spPr>
            <a:xfrm>
              <a:off x="0" y="0"/>
              <a:ext cx="5242500" cy="1371600"/>
            </a:xfrm>
            <a:prstGeom prst="roundRect">
              <a:avLst>
                <a:gd fmla="val 11111" name="adj"/>
              </a:avLst>
            </a:prstGeom>
            <a:solidFill>
              <a:srgbClr val="1E293B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21"/>
            <p:cNvSpPr/>
            <p:nvPr/>
          </p:nvSpPr>
          <p:spPr>
            <a:xfrm>
              <a:off x="190500" y="228600"/>
              <a:ext cx="495300" cy="495300"/>
            </a:xfrm>
            <a:prstGeom prst="roundRect">
              <a:avLst>
                <a:gd fmla="val 23076" name="adj"/>
              </a:avLst>
            </a:prstGeom>
            <a:solidFill>
              <a:srgbClr val="00F7FF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" name="Google Shape;340;p21"/>
            <p:cNvSpPr txBox="1"/>
            <p:nvPr/>
          </p:nvSpPr>
          <p:spPr>
            <a:xfrm>
              <a:off x="190500" y="263652"/>
              <a:ext cx="4953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developer_board</a:t>
              </a:r>
              <a:endParaRPr sz="24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41" name="Google Shape;341;p21"/>
            <p:cNvSpPr txBox="1"/>
            <p:nvPr/>
          </p:nvSpPr>
          <p:spPr>
            <a:xfrm>
              <a:off x="838200" y="190500"/>
              <a:ext cx="4191000" cy="990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NO GPU NEEDED</a:t>
              </a:r>
              <a:endParaRPr b="1" sz="12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Standard Laptop CPU</a:t>
              </a:r>
              <a:endParaRPr b="0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Runs efficiently on basic CPUs without expensive dedicated graphics.</a:t>
              </a:r>
              <a:endParaRPr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2"/>
          <p:cNvSpPr txBox="1"/>
          <p:nvPr/>
        </p:nvSpPr>
        <p:spPr>
          <a:xfrm>
            <a:off x="731520" y="320040"/>
            <a:ext cx="1069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/>
          </a:p>
        </p:txBody>
      </p:sp>
      <p:sp>
        <p:nvSpPr>
          <p:cNvPr id="347" name="Google Shape;347;p22"/>
          <p:cNvSpPr txBox="1"/>
          <p:nvPr/>
        </p:nvSpPr>
        <p:spPr>
          <a:xfrm>
            <a:off x="731520" y="594360"/>
            <a:ext cx="10698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Enterprise REST API Integration</a:t>
            </a:r>
            <a:endParaRPr/>
          </a:p>
        </p:txBody>
      </p:sp>
      <p:grpSp>
        <p:nvGrpSpPr>
          <p:cNvPr id="348" name="Google Shape;348;p22"/>
          <p:cNvGrpSpPr/>
          <p:nvPr/>
        </p:nvGrpSpPr>
        <p:grpSpPr>
          <a:xfrm>
            <a:off x="731520" y="1314450"/>
            <a:ext cx="10728900" cy="228600"/>
            <a:chOff x="0" y="0"/>
            <a:chExt cx="10728900" cy="228600"/>
          </a:xfrm>
        </p:grpSpPr>
        <p:sp>
          <p:nvSpPr>
            <p:cNvPr id="349" name="Google Shape;349;p22"/>
            <p:cNvSpPr/>
            <p:nvPr/>
          </p:nvSpPr>
          <p:spPr>
            <a:xfrm>
              <a:off x="0" y="0"/>
              <a:ext cx="107289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22"/>
            <p:cNvSpPr txBox="1"/>
            <p:nvPr/>
          </p:nvSpPr>
          <p:spPr>
            <a:xfrm>
              <a:off x="0" y="0"/>
              <a:ext cx="10728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F7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FASTAPI BACKEND ENDPOINTS (api.py)</a:t>
              </a:r>
              <a:endParaRPr b="1" sz="1100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351" name="Google Shape;351;p22"/>
          <p:cNvGrpSpPr/>
          <p:nvPr/>
        </p:nvGrpSpPr>
        <p:grpSpPr>
          <a:xfrm>
            <a:off x="731520" y="1638300"/>
            <a:ext cx="5143500" cy="2095500"/>
            <a:chOff x="0" y="0"/>
            <a:chExt cx="5143500" cy="2095500"/>
          </a:xfrm>
        </p:grpSpPr>
        <p:sp>
          <p:nvSpPr>
            <p:cNvPr id="352" name="Google Shape;352;p22"/>
            <p:cNvSpPr/>
            <p:nvPr/>
          </p:nvSpPr>
          <p:spPr>
            <a:xfrm>
              <a:off x="0" y="0"/>
              <a:ext cx="51435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22"/>
            <p:cNvSpPr/>
            <p:nvPr/>
          </p:nvSpPr>
          <p:spPr>
            <a:xfrm>
              <a:off x="228600" y="228600"/>
              <a:ext cx="609600" cy="285900"/>
            </a:xfrm>
            <a:prstGeom prst="roundRect">
              <a:avLst>
                <a:gd fmla="val 20000" name="adj"/>
              </a:avLst>
            </a:prstGeom>
            <a:solidFill>
              <a:srgbClr val="00F7FF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22"/>
            <p:cNvSpPr txBox="1"/>
            <p:nvPr/>
          </p:nvSpPr>
          <p:spPr>
            <a:xfrm>
              <a:off x="228600" y="228600"/>
              <a:ext cx="6096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GET</a:t>
              </a:r>
              <a:endParaRPr b="0" sz="12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5" name="Google Shape;355;p22"/>
            <p:cNvSpPr/>
            <p:nvPr/>
          </p:nvSpPr>
          <p:spPr>
            <a:xfrm>
              <a:off x="44958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22"/>
            <p:cNvSpPr txBox="1"/>
            <p:nvPr/>
          </p:nvSpPr>
          <p:spPr>
            <a:xfrm>
              <a:off x="44958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code</a:t>
              </a:r>
              <a:endParaRPr sz="22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57" name="Google Shape;357;p22"/>
            <p:cNvSpPr txBox="1"/>
            <p:nvPr/>
          </p:nvSpPr>
          <p:spPr>
            <a:xfrm>
              <a:off x="952500" y="228600"/>
              <a:ext cx="3390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/docs</a:t>
              </a:r>
              <a:endParaRPr b="1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8" name="Google Shape;358;p22"/>
            <p:cNvSpPr txBox="1"/>
            <p:nvPr/>
          </p:nvSpPr>
          <p:spPr>
            <a:xfrm>
              <a:off x="228600" y="704850"/>
              <a:ext cx="4686300" cy="12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Interactive Documentation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Interactive Swagger UI documentation for live browser API testing.</a:t>
              </a:r>
              <a:endParaRPr b="0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9" name="Google Shape;359;p22"/>
          <p:cNvGrpSpPr/>
          <p:nvPr/>
        </p:nvGrpSpPr>
        <p:grpSpPr>
          <a:xfrm>
            <a:off x="6217920" y="1638300"/>
            <a:ext cx="5242500" cy="2095500"/>
            <a:chOff x="0" y="0"/>
            <a:chExt cx="5242500" cy="2095500"/>
          </a:xfrm>
        </p:grpSpPr>
        <p:sp>
          <p:nvSpPr>
            <p:cNvPr id="360" name="Google Shape;360;p22"/>
            <p:cNvSpPr/>
            <p:nvPr/>
          </p:nvSpPr>
          <p:spPr>
            <a:xfrm>
              <a:off x="0" y="0"/>
              <a:ext cx="52425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22"/>
            <p:cNvSpPr/>
            <p:nvPr/>
          </p:nvSpPr>
          <p:spPr>
            <a:xfrm>
              <a:off x="228600" y="228600"/>
              <a:ext cx="647700" cy="285900"/>
            </a:xfrm>
            <a:prstGeom prst="roundRect">
              <a:avLst>
                <a:gd fmla="val 20000" name="adj"/>
              </a:avLst>
            </a:prstGeom>
            <a:solidFill>
              <a:srgbClr val="FFBF00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22"/>
            <p:cNvSpPr txBox="1"/>
            <p:nvPr/>
          </p:nvSpPr>
          <p:spPr>
            <a:xfrm>
              <a:off x="228600" y="228600"/>
              <a:ext cx="6477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POST</a:t>
              </a:r>
              <a:endParaRPr b="0" sz="12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2"/>
            <p:cNvSpPr/>
            <p:nvPr/>
          </p:nvSpPr>
          <p:spPr>
            <a:xfrm>
              <a:off x="459486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FFBF00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22"/>
            <p:cNvSpPr txBox="1"/>
            <p:nvPr/>
          </p:nvSpPr>
          <p:spPr>
            <a:xfrm>
              <a:off x="459486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description</a:t>
              </a:r>
              <a:endParaRPr sz="22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65" name="Google Shape;365;p22"/>
            <p:cNvSpPr txBox="1"/>
            <p:nvPr/>
          </p:nvSpPr>
          <p:spPr>
            <a:xfrm>
              <a:off x="990600" y="228600"/>
              <a:ext cx="34671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-resume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" name="Google Shape;366;p22"/>
            <p:cNvSpPr txBox="1"/>
            <p:nvPr/>
          </p:nvSpPr>
          <p:spPr>
            <a:xfrm>
              <a:off x="228600" y="704850"/>
              <a:ext cx="4785300" cy="12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Resume Parsing Engine</a:t>
              </a:r>
              <a:endParaRPr b="1" sz="15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Upload PDF/DOCX resume file to get extracted text &amp; contact JSON.</a:t>
              </a:r>
              <a:endParaRPr b="0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7" name="Google Shape;367;p22"/>
          <p:cNvGrpSpPr/>
          <p:nvPr/>
        </p:nvGrpSpPr>
        <p:grpSpPr>
          <a:xfrm>
            <a:off x="731520" y="4038600"/>
            <a:ext cx="5143500" cy="2095500"/>
            <a:chOff x="0" y="0"/>
            <a:chExt cx="5143500" cy="2095500"/>
          </a:xfrm>
        </p:grpSpPr>
        <p:sp>
          <p:nvSpPr>
            <p:cNvPr id="368" name="Google Shape;368;p22"/>
            <p:cNvSpPr/>
            <p:nvPr/>
          </p:nvSpPr>
          <p:spPr>
            <a:xfrm>
              <a:off x="0" y="0"/>
              <a:ext cx="51435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22"/>
            <p:cNvSpPr/>
            <p:nvPr/>
          </p:nvSpPr>
          <p:spPr>
            <a:xfrm>
              <a:off x="228600" y="228600"/>
              <a:ext cx="647700" cy="285900"/>
            </a:xfrm>
            <a:prstGeom prst="roundRect">
              <a:avLst>
                <a:gd fmla="val 20000" name="adj"/>
              </a:avLst>
            </a:prstGeom>
            <a:solidFill>
              <a:srgbClr val="FFBF00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22"/>
            <p:cNvSpPr txBox="1"/>
            <p:nvPr/>
          </p:nvSpPr>
          <p:spPr>
            <a:xfrm>
              <a:off x="228600" y="228600"/>
              <a:ext cx="6477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POST</a:t>
              </a:r>
              <a:endParaRPr b="0" sz="12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" name="Google Shape;371;p22"/>
            <p:cNvSpPr/>
            <p:nvPr/>
          </p:nvSpPr>
          <p:spPr>
            <a:xfrm>
              <a:off x="44958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FFBF00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22"/>
            <p:cNvSpPr txBox="1"/>
            <p:nvPr/>
          </p:nvSpPr>
          <p:spPr>
            <a:xfrm>
              <a:off x="44958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analytics</a:t>
              </a:r>
              <a:endParaRPr sz="22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73" name="Google Shape;373;p22"/>
            <p:cNvSpPr txBox="1"/>
            <p:nvPr/>
          </p:nvSpPr>
          <p:spPr>
            <a:xfrm>
              <a:off x="990600" y="228600"/>
              <a:ext cx="33528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analyze-match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" name="Google Shape;374;p22"/>
            <p:cNvSpPr txBox="1"/>
            <p:nvPr/>
          </p:nvSpPr>
          <p:spPr>
            <a:xfrm>
              <a:off x="228600" y="704850"/>
              <a:ext cx="4686300" cy="12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ATS Match &amp; Skill Analysis</a:t>
              </a:r>
              <a:endParaRPr b="1" sz="15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Returns ATS Match Score, Skill Coverage, and missing skill list JSON.</a:t>
              </a:r>
              <a:endParaRPr b="0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" name="Google Shape;375;p22"/>
          <p:cNvGrpSpPr/>
          <p:nvPr/>
        </p:nvGrpSpPr>
        <p:grpSpPr>
          <a:xfrm>
            <a:off x="6217920" y="4038600"/>
            <a:ext cx="5242500" cy="2095500"/>
            <a:chOff x="0" y="0"/>
            <a:chExt cx="5242500" cy="2095500"/>
          </a:xfrm>
        </p:grpSpPr>
        <p:sp>
          <p:nvSpPr>
            <p:cNvPr id="376" name="Google Shape;376;p22"/>
            <p:cNvSpPr/>
            <p:nvPr/>
          </p:nvSpPr>
          <p:spPr>
            <a:xfrm>
              <a:off x="0" y="0"/>
              <a:ext cx="52425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22"/>
            <p:cNvSpPr/>
            <p:nvPr/>
          </p:nvSpPr>
          <p:spPr>
            <a:xfrm>
              <a:off x="228600" y="228600"/>
              <a:ext cx="647700" cy="285900"/>
            </a:xfrm>
            <a:prstGeom prst="roundRect">
              <a:avLst>
                <a:gd fmla="val 20000" name="adj"/>
              </a:avLst>
            </a:prstGeom>
            <a:solidFill>
              <a:srgbClr val="00F7FF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22"/>
            <p:cNvSpPr txBox="1"/>
            <p:nvPr/>
          </p:nvSpPr>
          <p:spPr>
            <a:xfrm>
              <a:off x="228600" y="228600"/>
              <a:ext cx="6477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POST</a:t>
              </a:r>
              <a:endParaRPr b="0" sz="12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" name="Google Shape;379;p22"/>
            <p:cNvSpPr/>
            <p:nvPr/>
          </p:nvSpPr>
          <p:spPr>
            <a:xfrm>
              <a:off x="459486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22"/>
            <p:cNvSpPr txBox="1"/>
            <p:nvPr/>
          </p:nvSpPr>
          <p:spPr>
            <a:xfrm>
              <a:off x="459486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leaderboard</a:t>
              </a:r>
              <a:endParaRPr sz="22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81" name="Google Shape;381;p22"/>
            <p:cNvSpPr txBox="1"/>
            <p:nvPr/>
          </p:nvSpPr>
          <p:spPr>
            <a:xfrm>
              <a:off x="990600" y="228600"/>
              <a:ext cx="34671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batch-rank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" name="Google Shape;382;p22"/>
            <p:cNvSpPr txBox="1"/>
            <p:nvPr/>
          </p:nvSpPr>
          <p:spPr>
            <a:xfrm>
              <a:off x="228600" y="704850"/>
              <a:ext cx="4785300" cy="12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Batch Candidate Ranking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Ranks multiple candidate resumes via API call responses.</a:t>
              </a:r>
              <a:endParaRPr b="0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23"/>
          <p:cNvSpPr txBox="1"/>
          <p:nvPr/>
        </p:nvSpPr>
        <p:spPr>
          <a:xfrm>
            <a:off x="731520" y="320040"/>
            <a:ext cx="1069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/>
          </a:p>
        </p:txBody>
      </p:sp>
      <p:sp>
        <p:nvSpPr>
          <p:cNvPr id="388" name="Google Shape;388;p23"/>
          <p:cNvSpPr txBox="1"/>
          <p:nvPr/>
        </p:nvSpPr>
        <p:spPr>
          <a:xfrm>
            <a:off x="731520" y="594360"/>
            <a:ext cx="10698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Future Scope &amp; Enhancements</a:t>
            </a:r>
            <a:endParaRPr/>
          </a:p>
        </p:txBody>
      </p:sp>
      <p:sp>
        <p:nvSpPr>
          <p:cNvPr id="389" name="Google Shape;389;p23"/>
          <p:cNvSpPr txBox="1"/>
          <p:nvPr/>
        </p:nvSpPr>
        <p:spPr>
          <a:xfrm>
            <a:off x="731520" y="1314450"/>
            <a:ext cx="10728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FFBF0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FUTURE ROADMAP FOR HIRELENS</a:t>
            </a:r>
            <a:endParaRPr b="1" i="0" sz="1100">
              <a:solidFill>
                <a:srgbClr val="FFBF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390" name="Google Shape;390;p23"/>
          <p:cNvGrpSpPr/>
          <p:nvPr/>
        </p:nvGrpSpPr>
        <p:grpSpPr>
          <a:xfrm>
            <a:off x="731520" y="1638300"/>
            <a:ext cx="5143500" cy="2095500"/>
            <a:chOff x="0" y="0"/>
            <a:chExt cx="5143500" cy="2095500"/>
          </a:xfrm>
        </p:grpSpPr>
        <p:sp>
          <p:nvSpPr>
            <p:cNvPr id="391" name="Google Shape;391;p23"/>
            <p:cNvSpPr/>
            <p:nvPr/>
          </p:nvSpPr>
          <p:spPr>
            <a:xfrm>
              <a:off x="0" y="0"/>
              <a:ext cx="51435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23"/>
            <p:cNvSpPr/>
            <p:nvPr/>
          </p:nvSpPr>
          <p:spPr>
            <a:xfrm>
              <a:off x="2286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" name="Google Shape;393;p23"/>
            <p:cNvSpPr txBox="1"/>
            <p:nvPr/>
          </p:nvSpPr>
          <p:spPr>
            <a:xfrm>
              <a:off x="2286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document_scanner</a:t>
              </a:r>
              <a:endParaRPr sz="22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94" name="Google Shape;394;p23"/>
            <p:cNvSpPr txBox="1"/>
            <p:nvPr/>
          </p:nvSpPr>
          <p:spPr>
            <a:xfrm>
              <a:off x="762000" y="257175"/>
              <a:ext cx="4152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01. OCR Support for Scanned PDFs</a:t>
              </a:r>
              <a:endParaRPr b="1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" name="Google Shape;395;p23"/>
            <p:cNvSpPr txBox="1"/>
            <p:nvPr/>
          </p:nvSpPr>
          <p:spPr>
            <a:xfrm>
              <a:off x="228600" y="762000"/>
              <a:ext cx="46863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600"/>
                </a:spcAft>
                <a:buNone/>
              </a:pPr>
              <a:r>
                <a:rPr b="0" lang="en-US" sz="125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Integrate Tesseract OCR to read image-only scanned resumes seamlessly into the parsing pipeline.</a:t>
              </a:r>
              <a:endParaRPr b="0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6" name="Google Shape;396;p23"/>
          <p:cNvGrpSpPr/>
          <p:nvPr/>
        </p:nvGrpSpPr>
        <p:grpSpPr>
          <a:xfrm>
            <a:off x="6217920" y="1638300"/>
            <a:ext cx="5238900" cy="2095500"/>
            <a:chOff x="0" y="0"/>
            <a:chExt cx="5238900" cy="2095500"/>
          </a:xfrm>
        </p:grpSpPr>
        <p:sp>
          <p:nvSpPr>
            <p:cNvPr id="397" name="Google Shape;397;p23"/>
            <p:cNvSpPr/>
            <p:nvPr/>
          </p:nvSpPr>
          <p:spPr>
            <a:xfrm>
              <a:off x="0" y="0"/>
              <a:ext cx="52389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23"/>
            <p:cNvSpPr/>
            <p:nvPr/>
          </p:nvSpPr>
          <p:spPr>
            <a:xfrm>
              <a:off x="2286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FFBF00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" name="Google Shape;399;p23"/>
            <p:cNvSpPr txBox="1"/>
            <p:nvPr/>
          </p:nvSpPr>
          <p:spPr>
            <a:xfrm>
              <a:off x="2286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storage</a:t>
              </a:r>
              <a:endParaRPr sz="22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00" name="Google Shape;400;p23"/>
            <p:cNvSpPr txBox="1"/>
            <p:nvPr/>
          </p:nvSpPr>
          <p:spPr>
            <a:xfrm>
              <a:off x="762000" y="257175"/>
              <a:ext cx="4248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02. Vector Database Scaling</a:t>
              </a:r>
              <a:endParaRPr b="1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" name="Google Shape;401;p23"/>
            <p:cNvSpPr txBox="1"/>
            <p:nvPr/>
          </p:nvSpPr>
          <p:spPr>
            <a:xfrm>
              <a:off x="228600" y="762000"/>
              <a:ext cx="47817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600"/>
                </a:spcAft>
                <a:buNone/>
              </a:pPr>
              <a:r>
                <a:rPr b="0" lang="en-US" sz="125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Use FAISS / Qdrant vector databases for instant searching across 1,000,000+ candidate resumes.</a:t>
              </a:r>
              <a:endParaRPr b="0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2" name="Google Shape;402;p23"/>
          <p:cNvGrpSpPr/>
          <p:nvPr/>
        </p:nvGrpSpPr>
        <p:grpSpPr>
          <a:xfrm>
            <a:off x="731520" y="4038600"/>
            <a:ext cx="5143500" cy="2095500"/>
            <a:chOff x="0" y="0"/>
            <a:chExt cx="5143500" cy="2095500"/>
          </a:xfrm>
        </p:grpSpPr>
        <p:sp>
          <p:nvSpPr>
            <p:cNvPr id="403" name="Google Shape;403;p23"/>
            <p:cNvSpPr/>
            <p:nvPr/>
          </p:nvSpPr>
          <p:spPr>
            <a:xfrm>
              <a:off x="0" y="0"/>
              <a:ext cx="51435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23"/>
            <p:cNvSpPr/>
            <p:nvPr/>
          </p:nvSpPr>
          <p:spPr>
            <a:xfrm>
              <a:off x="2286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FFBF00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23"/>
            <p:cNvSpPr txBox="1"/>
            <p:nvPr/>
          </p:nvSpPr>
          <p:spPr>
            <a:xfrm>
              <a:off x="2286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translate</a:t>
              </a:r>
              <a:endParaRPr sz="22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06" name="Google Shape;406;p23"/>
            <p:cNvSpPr txBox="1"/>
            <p:nvPr/>
          </p:nvSpPr>
          <p:spPr>
            <a:xfrm>
              <a:off x="762000" y="257175"/>
              <a:ext cx="4152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03. Multilingual Screening</a:t>
              </a:r>
              <a:endParaRPr b="1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7" name="Google Shape;407;p23"/>
            <p:cNvSpPr txBox="1"/>
            <p:nvPr/>
          </p:nvSpPr>
          <p:spPr>
            <a:xfrm>
              <a:off x="228600" y="762000"/>
              <a:ext cx="46863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600"/>
                </a:spcAft>
                <a:buNone/>
              </a:pPr>
              <a:r>
                <a:rPr b="0" lang="en-US" sz="125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Support multi-language resume parsing across Spanish, Hindi, German, and French.</a:t>
              </a:r>
              <a:endParaRPr b="0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8" name="Google Shape;408;p23"/>
          <p:cNvGrpSpPr/>
          <p:nvPr/>
        </p:nvGrpSpPr>
        <p:grpSpPr>
          <a:xfrm>
            <a:off x="6217920" y="4038600"/>
            <a:ext cx="5238900" cy="2095500"/>
            <a:chOff x="0" y="0"/>
            <a:chExt cx="5238900" cy="2095500"/>
          </a:xfrm>
        </p:grpSpPr>
        <p:sp>
          <p:nvSpPr>
            <p:cNvPr id="409" name="Google Shape;409;p23"/>
            <p:cNvSpPr/>
            <p:nvPr/>
          </p:nvSpPr>
          <p:spPr>
            <a:xfrm>
              <a:off x="0" y="0"/>
              <a:ext cx="52389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23"/>
            <p:cNvSpPr/>
            <p:nvPr/>
          </p:nvSpPr>
          <p:spPr>
            <a:xfrm>
              <a:off x="2286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23"/>
            <p:cNvSpPr txBox="1"/>
            <p:nvPr/>
          </p:nvSpPr>
          <p:spPr>
            <a:xfrm>
              <a:off x="2286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quiz</a:t>
              </a:r>
              <a:endParaRPr sz="22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12" name="Google Shape;412;p23"/>
            <p:cNvSpPr txBox="1"/>
            <p:nvPr/>
          </p:nvSpPr>
          <p:spPr>
            <a:xfrm>
              <a:off x="762000" y="257175"/>
              <a:ext cx="4248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04. Auto Question Generator</a:t>
              </a:r>
              <a:endParaRPr b="1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23"/>
            <p:cNvSpPr txBox="1"/>
            <p:nvPr/>
          </p:nvSpPr>
          <p:spPr>
            <a:xfrm>
              <a:off x="228600" y="762000"/>
              <a:ext cx="47817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600"/>
                </a:spcAft>
                <a:buNone/>
              </a:pPr>
              <a:r>
                <a:rPr b="0" lang="en-US" sz="125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Automatically generate custom technical interview questions based on detected candidate skill gaps.</a:t>
              </a:r>
              <a:endParaRPr b="0" sz="125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4"/>
          <p:cNvSpPr txBox="1"/>
          <p:nvPr/>
        </p:nvSpPr>
        <p:spPr>
          <a:xfrm>
            <a:off x="731520" y="320040"/>
            <a:ext cx="10698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HIRELENS | CAPSTONE DEFENSE</a:t>
            </a:r>
            <a:endParaRPr/>
          </a:p>
        </p:txBody>
      </p:sp>
      <p:sp>
        <p:nvSpPr>
          <p:cNvPr id="419" name="Google Shape;419;p24"/>
          <p:cNvSpPr txBox="1"/>
          <p:nvPr/>
        </p:nvSpPr>
        <p:spPr>
          <a:xfrm>
            <a:off x="731520" y="594360"/>
            <a:ext cx="10698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Project Conclusion &amp; Thank You</a:t>
            </a:r>
            <a:endParaRPr/>
          </a:p>
        </p:txBody>
      </p:sp>
      <p:grpSp>
        <p:nvGrpSpPr>
          <p:cNvPr id="420" name="Google Shape;420;p24"/>
          <p:cNvGrpSpPr/>
          <p:nvPr/>
        </p:nvGrpSpPr>
        <p:grpSpPr>
          <a:xfrm>
            <a:off x="731520" y="1314450"/>
            <a:ext cx="10728900" cy="228600"/>
            <a:chOff x="0" y="0"/>
            <a:chExt cx="10728900" cy="228600"/>
          </a:xfrm>
        </p:grpSpPr>
        <p:sp>
          <p:nvSpPr>
            <p:cNvPr id="421" name="Google Shape;421;p24"/>
            <p:cNvSpPr/>
            <p:nvPr/>
          </p:nvSpPr>
          <p:spPr>
            <a:xfrm>
              <a:off x="0" y="0"/>
              <a:ext cx="107289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24"/>
            <p:cNvSpPr txBox="1"/>
            <p:nvPr/>
          </p:nvSpPr>
          <p:spPr>
            <a:xfrm>
              <a:off x="0" y="0"/>
              <a:ext cx="10728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F7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SUMMARY OF ACCOMPLISHMENTS</a:t>
              </a:r>
              <a:endParaRPr b="1" sz="1100">
                <a:solidFill>
                  <a:srgbClr val="00F7FF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grpSp>
        <p:nvGrpSpPr>
          <p:cNvPr id="423" name="Google Shape;423;p24"/>
          <p:cNvGrpSpPr/>
          <p:nvPr/>
        </p:nvGrpSpPr>
        <p:grpSpPr>
          <a:xfrm>
            <a:off x="731520" y="1619250"/>
            <a:ext cx="3390900" cy="2095500"/>
            <a:chOff x="0" y="0"/>
            <a:chExt cx="3390900" cy="2095500"/>
          </a:xfrm>
        </p:grpSpPr>
        <p:sp>
          <p:nvSpPr>
            <p:cNvPr id="424" name="Google Shape;424;p24"/>
            <p:cNvSpPr/>
            <p:nvPr/>
          </p:nvSpPr>
          <p:spPr>
            <a:xfrm>
              <a:off x="0" y="0"/>
              <a:ext cx="33909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24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24"/>
            <p:cNvSpPr txBox="1"/>
            <p:nvPr/>
          </p:nvSpPr>
          <p:spPr>
            <a:xfrm>
              <a:off x="1905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b="0" sz="22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27" name="Google Shape;427;p24"/>
            <p:cNvSpPr txBox="1"/>
            <p:nvPr/>
          </p:nvSpPr>
          <p:spPr>
            <a:xfrm>
              <a:off x="190500" y="742950"/>
              <a:ext cx="3009900" cy="116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Faster &amp; Fairer Hiring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HireLens makes hiring faster, fairer, and context-aware.</a:t>
              </a:r>
              <a:endParaRPr b="0"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8" name="Google Shape;428;p24"/>
          <p:cNvGrpSpPr/>
          <p:nvPr/>
        </p:nvGrpSpPr>
        <p:grpSpPr>
          <a:xfrm>
            <a:off x="4408170" y="1619250"/>
            <a:ext cx="3390900" cy="2095500"/>
            <a:chOff x="0" y="0"/>
            <a:chExt cx="3390900" cy="2095500"/>
          </a:xfrm>
        </p:grpSpPr>
        <p:sp>
          <p:nvSpPr>
            <p:cNvPr id="429" name="Google Shape;429;p24"/>
            <p:cNvSpPr/>
            <p:nvPr/>
          </p:nvSpPr>
          <p:spPr>
            <a:xfrm>
              <a:off x="0" y="0"/>
              <a:ext cx="33909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" name="Google Shape;430;p24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FFBF00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" name="Google Shape;431;p24"/>
            <p:cNvSpPr txBox="1"/>
            <p:nvPr/>
          </p:nvSpPr>
          <p:spPr>
            <a:xfrm>
              <a:off x="1905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verified</a:t>
              </a:r>
              <a:endParaRPr b="0" sz="22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32" name="Google Shape;432;p24"/>
            <p:cNvSpPr txBox="1"/>
            <p:nvPr/>
          </p:nvSpPr>
          <p:spPr>
            <a:xfrm>
              <a:off x="190500" y="742950"/>
              <a:ext cx="3009900" cy="116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No Keyword Penalties</a:t>
              </a:r>
              <a:endParaRPr b="1" sz="15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Eliminates keyword rejection penalties for qualified candidates.</a:t>
              </a:r>
              <a:endParaRPr b="0"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33" name="Google Shape;433;p24"/>
          <p:cNvGrpSpPr/>
          <p:nvPr/>
        </p:nvGrpSpPr>
        <p:grpSpPr>
          <a:xfrm>
            <a:off x="8084820" y="1619250"/>
            <a:ext cx="3390900" cy="2095500"/>
            <a:chOff x="0" y="0"/>
            <a:chExt cx="3390900" cy="2095500"/>
          </a:xfrm>
        </p:grpSpPr>
        <p:sp>
          <p:nvSpPr>
            <p:cNvPr id="434" name="Google Shape;434;p24"/>
            <p:cNvSpPr/>
            <p:nvPr/>
          </p:nvSpPr>
          <p:spPr>
            <a:xfrm>
              <a:off x="0" y="0"/>
              <a:ext cx="33909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" name="Google Shape;435;p24"/>
            <p:cNvSpPr/>
            <p:nvPr/>
          </p:nvSpPr>
          <p:spPr>
            <a:xfrm>
              <a:off x="190500" y="190500"/>
              <a:ext cx="419100" cy="419100"/>
            </a:xfrm>
            <a:prstGeom prst="roundRect">
              <a:avLst>
                <a:gd fmla="val 22727" name="adj"/>
              </a:avLst>
            </a:prstGeom>
            <a:solidFill>
              <a:srgbClr val="00F7F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24"/>
            <p:cNvSpPr txBox="1"/>
            <p:nvPr/>
          </p:nvSpPr>
          <p:spPr>
            <a:xfrm>
              <a:off x="190500" y="222631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00F7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hub</a:t>
              </a:r>
              <a:endParaRPr b="0" sz="2200">
                <a:solidFill>
                  <a:srgbClr val="00F7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37" name="Google Shape;437;p24"/>
            <p:cNvSpPr txBox="1"/>
            <p:nvPr/>
          </p:nvSpPr>
          <p:spPr>
            <a:xfrm>
              <a:off x="190500" y="742950"/>
              <a:ext cx="3009900" cy="116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Full AI Integration</a:t>
              </a:r>
              <a:endParaRPr b="1" sz="15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Combines SBERT AI, 7-Domain Skill Ontology, and Streamlit UI into a full capstone project.</a:t>
              </a:r>
              <a:endParaRPr b="0" sz="125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38" name="Google Shape;438;p24"/>
          <p:cNvGrpSpPr/>
          <p:nvPr/>
        </p:nvGrpSpPr>
        <p:grpSpPr>
          <a:xfrm>
            <a:off x="731520" y="3981450"/>
            <a:ext cx="10728900" cy="2209800"/>
            <a:chOff x="0" y="0"/>
            <a:chExt cx="10728900" cy="2209800"/>
          </a:xfrm>
        </p:grpSpPr>
        <p:sp>
          <p:nvSpPr>
            <p:cNvPr id="439" name="Google Shape;439;p24"/>
            <p:cNvSpPr/>
            <p:nvPr/>
          </p:nvSpPr>
          <p:spPr>
            <a:xfrm>
              <a:off x="0" y="0"/>
              <a:ext cx="10728900" cy="2209800"/>
            </a:xfrm>
            <a:prstGeom prst="roundRect">
              <a:avLst>
                <a:gd fmla="val 7758" name="adj"/>
              </a:avLst>
            </a:prstGeom>
            <a:solidFill>
              <a:srgbClr val="1E293B"/>
            </a:solidFill>
            <a:ln cap="flat" cmpd="sng" w="19050">
              <a:solidFill>
                <a:srgbClr val="FFBF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24"/>
            <p:cNvSpPr/>
            <p:nvPr/>
          </p:nvSpPr>
          <p:spPr>
            <a:xfrm>
              <a:off x="304800" y="247650"/>
              <a:ext cx="495300" cy="495300"/>
            </a:xfrm>
            <a:prstGeom prst="roundRect">
              <a:avLst>
                <a:gd fmla="val 23076" name="adj"/>
              </a:avLst>
            </a:prstGeom>
            <a:solidFill>
              <a:srgbClr val="FFBF00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24"/>
            <p:cNvSpPr txBox="1"/>
            <p:nvPr/>
          </p:nvSpPr>
          <p:spPr>
            <a:xfrm>
              <a:off x="304800" y="285623"/>
              <a:ext cx="4953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600">
                  <a:solidFill>
                    <a:srgbClr val="FFBF00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forum</a:t>
              </a:r>
              <a:endParaRPr b="0" sz="2600">
                <a:solidFill>
                  <a:srgbClr val="FFBF00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442" name="Google Shape;442;p24"/>
            <p:cNvSpPr txBox="1"/>
            <p:nvPr/>
          </p:nvSpPr>
          <p:spPr>
            <a:xfrm>
              <a:off x="952500" y="228600"/>
              <a:ext cx="94299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FBF00"/>
                  </a:solidFill>
                  <a:latin typeface="Calibri"/>
                  <a:ea typeface="Calibri"/>
                  <a:cs typeface="Calibri"/>
                  <a:sym typeface="Calibri"/>
                </a:rPr>
                <a:t>THANK YOU! QUESTIONS &amp; FEEDBACK ARE WELCOME</a:t>
              </a:r>
              <a:endParaRPr b="1" sz="2000">
                <a:solidFill>
                  <a:srgbClr val="FFBF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24"/>
            <p:cNvSpPr/>
            <p:nvPr/>
          </p:nvSpPr>
          <p:spPr>
            <a:xfrm>
              <a:off x="304800" y="933450"/>
              <a:ext cx="10119300" cy="990600"/>
            </a:xfrm>
            <a:prstGeom prst="roundRect">
              <a:avLst>
                <a:gd fmla="val 11538" name="adj"/>
              </a:avLst>
            </a:prstGeom>
            <a:solidFill>
              <a:srgbClr val="0F172A"/>
            </a:solidFill>
            <a:ln cap="flat" cmpd="sng" w="143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" name="Google Shape;444;p24"/>
            <p:cNvSpPr txBox="1"/>
            <p:nvPr/>
          </p:nvSpPr>
          <p:spPr>
            <a:xfrm>
              <a:off x="533400" y="1066800"/>
              <a:ext cx="96621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F7FF"/>
                  </a:solidFill>
                  <a:latin typeface="Calibri"/>
                  <a:ea typeface="Calibri"/>
                  <a:cs typeface="Calibri"/>
                  <a:sym typeface="Calibri"/>
                </a:rPr>
                <a:t>LIVE WEB APP</a:t>
              </a:r>
              <a:endParaRPr b="1" sz="1100">
                <a:solidFill>
                  <a:srgbClr val="00F7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https://aryan8182-hirelens-ai-resume-analyzer-app-p2fpgo.streamlit.app/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