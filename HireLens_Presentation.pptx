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818CF8"/>
                </a:solidFill>
              </a:defRPr>
            </a:pPr>
            <a:r>
              <a:t>🔍 HireLens</a:t>
            </a:r>
          </a:p>
          <a:p>
            <a:pPr>
              <a:spcAft>
                <a:spcPts val="2000"/>
              </a:spcAft>
              <a:defRPr sz="2200" b="1">
                <a:solidFill>
                  <a:srgbClr val="FFFFFF"/>
                </a:solidFill>
              </a:defRPr>
            </a:pPr>
            <a:r>
              <a:t>AI-Powered Resume Screening, Skill Gap Analysis &amp; Job Matching System</a:t>
            </a:r>
          </a:p>
          <a:p>
            <a:pPr>
              <a:spcAft>
                <a:spcPts val="2500"/>
              </a:spcAft>
              <a:defRPr sz="1400">
                <a:solidFill>
                  <a:srgbClr val="38BDF8"/>
                </a:solidFill>
              </a:defRPr>
            </a:pPr>
            <a:r>
              <a:t>Minor Project 1 • Bachelor of Technology (B.Tech 3rd Year) in AI &amp; ML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👥 Project Team Members:</a:t>
            </a:r>
            <a:br/>
            <a:r>
              <a:t>• Aryan  (Roll No: 28240533)</a:t>
            </a:r>
            <a:br/>
            <a:r>
              <a:t>• Nitish  (Roll No: 28240529)</a:t>
            </a:r>
            <a:br/>
            <a:br/>
            <a:r>
              <a:t>🏛️ Institution: Panipat Institute of Engineering &amp; Technology (PIET)</a:t>
            </a:r>
            <a:br/>
            <a:r>
              <a:t>🌐 Live Demo: https://aryan8182-hirelens-ai-resume-analyzer-app-p2fpgo.streamlit.app/</a:t>
            </a:r>
            <a:br/>
            <a:r>
              <a:t>🔗 GitHub: https://github.com/Aryan8182/Hirelens-ai-resume-analyzer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Industry Background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72B6"/>
                </a:solidFill>
              </a:defRPr>
            </a:pPr>
            <a:r>
              <a:t>⚠️ Limitations of Traditional ATS Software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Mass Application Overload: Recruiters receive 250+ resumes per job posting.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Rigid Keyword Matching: Traditional tools rely strictly on exact string matching.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False Negative Rejections: A candidate writing 'Neural Networks' gets 0 score if the job description asks for 'Deep Learning'.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Lack of Transparency: Proprietary black-box algorithms offer zero feedback to candidates on missing skills.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4D399"/>
                </a:solidFill>
              </a:defRPr>
            </a:pPr>
            <a:r>
              <a:t>💡 The HireLens AI Solution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Dense Semantic Embeddings: Uses Sentence-Transformers (all-MiniLM-L6-v2) for deep contextual meaning matching.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7-Domain NLP Taxonomy: Automatically extracts and maps hard technical and soft skill competencies.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Hybrid Weighted Scoring: Fuses SBERT (45%), Skill Coverage (35%), and TF-IDF term frequency (20%).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Explainable AI Feedback: Displays matched/missing skill gap analysis and formatting recommendations.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2468880" cy="484632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194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818CF8"/>
                </a:solidFill>
              </a:defRPr>
            </a:pPr>
            <a:r>
              <a:t>1. Multi-Format Text Parser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Extract clean text from PDF (pdfplumber) and DOCX (python-docx) files without losing structured layout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463040"/>
            <a:ext cx="2468880" cy="484632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645920"/>
            <a:ext cx="2194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</a:defRPr>
            </a:pPr>
            <a:r>
              <a:t>2. Robust Regex Contact Audit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Extract candidate email, full 10-13 digit phone numbers (with country codes), LinkedIn, and GitHub profiles using non-capturing regex.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2468880" cy="484632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2194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4D399"/>
                </a:solidFill>
              </a:defRPr>
            </a:pPr>
            <a:r>
              <a:t>3. SBERT Semantic Matcher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Convert resumes and job descriptions into 384-dimensional dense vectors to measure true conceptual similarity.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463040"/>
            <a:ext cx="2468880" cy="484632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645920"/>
            <a:ext cx="2194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472B6"/>
                </a:solidFill>
              </a:defRPr>
            </a:pPr>
            <a:r>
              <a:t>4. Taxonomy &amp; Radar Visuals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Map skills across 7 technical categories and plot interactive polar radar charts comparing candidate vs job requirements.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Architecture &amp; End-to-End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818CF8"/>
                </a:solidFill>
              </a:defRPr>
            </a:pPr>
            <a:r>
              <a:t>🔄 4-Stage Architectural Processing Pipeline</a:t>
            </a:r>
          </a:p>
          <a:p>
            <a:pPr>
              <a:spcAft>
                <a:spcPts val="300"/>
              </a:spcAft>
              <a:defRPr sz="1400" b="1">
                <a:solidFill>
                  <a:srgbClr val="38BDF8"/>
                </a:solidFill>
              </a:defRPr>
            </a:pPr>
            <a:r>
              <a:t>🔹 Stage 1: Ingestion &amp; Parsing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Ingests PDF/DOCX resume files and target Job Description text streams using pdfplumber and python-docx.</a:t>
            </a:r>
          </a:p>
          <a:p>
            <a:pPr>
              <a:spcAft>
                <a:spcPts val="300"/>
              </a:spcAft>
              <a:defRPr sz="1400" b="1">
                <a:solidFill>
                  <a:srgbClr val="38BDF8"/>
                </a:solidFill>
              </a:defRPr>
            </a:pPr>
            <a:r>
              <a:t>🔹 Stage 2: Entity &amp; Contact Mining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Runs clean_text preprocessing and non-capturing regex to audit Phone (+91-7058291048), Email, LinkedIn &amp; GitHub profiles.</a:t>
            </a:r>
          </a:p>
          <a:p>
            <a:pPr>
              <a:spcAft>
                <a:spcPts val="300"/>
              </a:spcAft>
              <a:defRPr sz="1400" b="1">
                <a:solidFill>
                  <a:srgbClr val="38BDF8"/>
                </a:solidFill>
              </a:defRPr>
            </a:pPr>
            <a:r>
              <a:t>🔹 Stage 3: Hybrid AI Evaluation Engine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Calculates SBERT vector cosine similarity (45%), 7-category Skill Taxonomy coverage (35%), and TF-IDF matrix similarity (20%).</a:t>
            </a:r>
          </a:p>
          <a:p>
            <a:pPr>
              <a:spcAft>
                <a:spcPts val="300"/>
              </a:spcAft>
              <a:defRPr sz="1400" b="1">
                <a:solidFill>
                  <a:srgbClr val="38BDF8"/>
                </a:solidFill>
              </a:defRPr>
            </a:pPr>
            <a:r>
              <a:t>🔹 Stage 4: Streamlit Dashboard &amp; Database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Renders composite ATS match score, Plotly radar chart, missing skill badges, AI advice, and logs record to SQLite database (ats_history.db).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Mathematical ATS Scoring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554480"/>
          </a:xfrm>
          <a:prstGeom prst="rect">
            <a:avLst/>
          </a:prstGeom>
          <a:solidFill>
            <a:srgbClr val="0F172A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4D399"/>
                </a:solidFill>
              </a:defRPr>
            </a:pPr>
            <a:r>
              <a:t>📐 Composite Match Equation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ATS Match Score = (0.45 × SBERT Sim) + (0.35 × Skill Coverage Ratio) + (0.20 × TF-IDF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3413455" cy="3200400"/>
          </a:xfrm>
          <a:prstGeom prst="rect">
            <a:avLst/>
          </a:prstGeom>
          <a:solidFill>
            <a:srgbClr val="0F172A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818CF8"/>
                </a:solidFill>
              </a:defRPr>
            </a:pPr>
            <a:r>
              <a:t>SBERT Semantic Match (45%)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Dense 384D vector cosine similarity between Transformer embeddings u and v.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108960"/>
            <a:ext cx="3413455" cy="320040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329184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Skill Coverage Ratio (35%)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Percentage of matched technical skills vs total required skills: (Matched / Required) ×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108960"/>
            <a:ext cx="3413455" cy="320040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329184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472B6"/>
                </a:solidFill>
              </a:defRPr>
            </a:pPr>
            <a:r>
              <a:t>TF-IDF Matrix Match (20%)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Term Frequency-Inverse Document Frequency sparse matrix cosine distance for keyword frequency.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Sentence-BERT (SBERT) Vector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</a:defRPr>
            </a:pPr>
            <a:r>
              <a:t>🧠 Deep Learning Transformer Mechanics (all-MiniLM-L6-v2)</a:t>
            </a:r>
          </a:p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🔸 Pre-trained Transformer Backbone: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Uses Siamese BERT networks fine-tuned for semantic textual similarity (STS).</a:t>
            </a:r>
          </a:p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🔸 384-Dimensional Vector Mapping: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Converts arbitrary length resume and job description text into dense 384D mathematical vectors (u and v).</a:t>
            </a:r>
          </a:p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🔸 Cosine Vector Distance Metric: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Calculates Cosine Similarity:  cos(θ) = (u · v) / (||u|| ||v||)  yielding a value between 0.0 and 1.0.</a:t>
            </a:r>
          </a:p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🔸 Contextual Awareness Advantage: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Captures conceptual intent. Recognizes that 'PyTorch / TensorFlow' is semantically aligned with 'Deep Learning Engineer' even if the phrase 'Deep Learning' is absent.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7-Domain NLP Skill Taxonomy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</a:defRPr>
            </a:pPr>
            <a:r>
              <a:t>🏷️ Categorized Technical &amp; Soft Skill Competencies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1. Programming Languages: Python, C++, Java, JavaScript, TypeScript, Go, Rust, R, SQL, Swift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2. Machine Learning &amp; AI: PyTorch, TensorFlow, Scikit-Learn, Keras, OpenCV, SpaCy, HuggingFace, RAG, LLM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3. Web Development: React, Node.js, FastAPI, Flask, Django, HTML5, CSS3, Tailwind, REST API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4. Cloud &amp; DevOps: AWS, Azure, GCP, Docker, Kubernetes, CI/CD, Terraform, Linux, Git, GitHub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5. Databases: PostgreSQL, MySQL, MongoDB, Redis, SQLite, Pinecone, ChromaDB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6. Frameworks &amp; Tools: Pandas, NumPy, Matplotlib, Seaborn, Jupyter Notebooks, VS Code, JIRA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7. Soft Skills: Leadership, Problem Solving, Critical Thinking, Communication, Teamwork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Non-Capturing Regex Contact Extractor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472B6"/>
                </a:solidFill>
              </a:defRPr>
            </a:pPr>
            <a:r>
              <a:t>📱 Solving Regex Truncation &amp; Extracting Clean Contact Data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The Truncation Challenge: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  Standard re.findall() with capturing groups () returns matched tuples instead of full strings, truncating phone numbers (e.g. +91-7058291048 -&gt; +91-705).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Our Solution - Non-Capturing Groups: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  Implemented non-capturing regex groups (?:...) with re.finditer() to evaluate m.group(0), preserving complete 10-13 digit phone numbers.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Email Regex Pattern: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  \b[A-Za-z0-9._%+-]+@[A-Za-z0-9.-]+\.[A-Za-z]{2,}\b  (Extracts clean email addresses)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Phone Regex Pattern: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  (?:\+?\d{1,3}[\s.-]?)?(?:\(?\d{2,4}\)?[\s.-]?)?\d{3,4}[\s.-]?\d{3,4}  (Parses full numbers with country codes)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• LinkedIn &amp; GitHub URLs: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  (?:https?://)?(?:www\.)?linkedin\.com/in/[a-zA-Z0-9\-_/]+  (Normalizes full profile URLs)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Streamlit Dashboard &amp; SQLite History Logger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🎯 Single Resume Evaluation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Upload PDF/DOCX resume; computes instant SBERT match score, match grade, skill gap list, and Executive Contact Audit card.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🏆 Batch Candidate Leaderboard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Upload multiple candidate resumes to rank all applicants on an interactive leaderboard sorted by highest ATS match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931920"/>
            <a:ext cx="521208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472B6"/>
                </a:solidFill>
              </a:defRPr>
            </a:pPr>
            <a:r>
              <a:t>🕸️ Plotly Polar Skill Radar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Interactive polar radar chart comparing candidate skill distribution directly against job requirements across 7 categories.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818CF8"/>
                </a:solidFill>
              </a:defRPr>
            </a:pPr>
            <a:r>
              <a:t>📜 SQLite Audit &amp; Reset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Automatic persistence in ats_history.db with a 'Clear Evaluation History' button for one-click database resets.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FastAPI REST Microservice (api.py)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🌐 Headless OpenAPI Endpoints &amp; Integration</a:t>
            </a:r>
          </a:p>
          <a:p>
            <a:pPr>
              <a:spcAft>
                <a:spcPts val="200"/>
              </a:spcAft>
              <a:defRPr sz="1400" b="1">
                <a:solidFill>
                  <a:srgbClr val="34D399"/>
                </a:solidFill>
              </a:defRPr>
            </a:pPr>
            <a:r>
              <a:t>• GET /: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Root health-check endpoint returning service status, project name, and API documentation link.</a:t>
            </a:r>
          </a:p>
          <a:p>
            <a:pPr>
              <a:spcAft>
                <a:spcPts val="200"/>
              </a:spcAft>
              <a:defRPr sz="1400" b="1">
                <a:solidFill>
                  <a:srgbClr val="34D399"/>
                </a:solidFill>
              </a:defRPr>
            </a:pPr>
            <a:r>
              <a:t>• GET /docs: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Interactive Swagger UI documentation generated automatically by FastAPI for testing endpoints.</a:t>
            </a:r>
          </a:p>
          <a:p>
            <a:pPr>
              <a:spcAft>
                <a:spcPts val="200"/>
              </a:spcAft>
              <a:defRPr sz="1400" b="1">
                <a:solidFill>
                  <a:srgbClr val="34D399"/>
                </a:solidFill>
              </a:defRPr>
            </a:pPr>
            <a:r>
              <a:t>• POST /api/v1/parse-resume: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Accepts PDF/DOCX file upload as multipart/form-data. Returns extracted raw text, text length, and clean contact audit JSON.</a:t>
            </a:r>
          </a:p>
          <a:p>
            <a:pPr>
              <a:spcAft>
                <a:spcPts val="200"/>
              </a:spcAft>
              <a:defRPr sz="1400" b="1">
                <a:solidFill>
                  <a:srgbClr val="34D399"/>
                </a:solidFill>
              </a:defRPr>
            </a:pPr>
            <a:r>
              <a:t>• POST /api/v1/analyze-match: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    Accepts JSON payload (resume_text + jd_text). Calculates composite ATS score, SBERT match, skill coverage, missing skills, logs to SQLite database, and returns structured JSON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Experimental Evaluation &amp; Sample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4D399"/>
                </a:solidFill>
              </a:defRPr>
            </a:pPr>
            <a:r>
              <a:t>📊 Real-World Evaluation Output (ML Engineer Role)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Candidate Name &amp; Contact:  Alex (Email: alex.dev@gmail.com | Phone: +91-7058291048)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Target Job Title:  Machine Learning Engineer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Final Composite ATS Score:  87.5%  [Grade: Exceptional Fit]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SBERT Semantic Match:  84.3%  (Dense 384D Vector Cosine Distance)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Skill Coverage Ratio:  90.0%  (9 Matched Technical Skills / 10 Required)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TF-IDF Keyword Similarity:  89.2%  (Term Frequency Matrix Similarity)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Matched Competencies:  Python, PyTorch, TensorFlow, Scikit-Learn, Docker, Kubernetes, AWS, Git, SQL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Missing Skill Alert:  MLflow (Flagged by AI recommendation engine for optimization)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34D399"/>
                </a:solidFill>
              </a:defRPr>
            </a:pPr>
            <a:r>
              <a:t>🎓 Conclusion &amp; Future Scope</a:t>
            </a:r>
          </a:p>
          <a:p>
            <a:pPr>
              <a:spcAft>
                <a:spcPts val="1600"/>
              </a:spcAft>
              <a:defRPr sz="1400">
                <a:solidFill>
                  <a:srgbClr val="FFFFFF"/>
                </a:solidFill>
              </a:defRPr>
            </a:pPr>
            <a:r>
              <a:t>HireLens delivers a transparent, AI-driven ATS screening system combining Transformer semantics, skill taxonomy matching, and explainable feedback.</a:t>
            </a:r>
          </a:p>
          <a:p>
            <a:pPr>
              <a:spcAft>
                <a:spcPts val="2000"/>
              </a:spcAft>
              <a:defRPr sz="1300">
                <a:solidFill>
                  <a:srgbClr val="38BDF8"/>
                </a:solidFill>
              </a:defRPr>
            </a:pPr>
            <a:r>
              <a:t>🚀 Future Roadmap:</a:t>
            </a:r>
            <a:br/>
            <a:r>
              <a:t>• Domain Fine-Tuning SBERT on 100k+ technical IT resumes.</a:t>
            </a:r>
            <a:br/>
            <a:r>
              <a:t>• LLM Bullet Point Rewriter using Llama-3 / Gemini models.</a:t>
            </a:r>
            <a:br/>
            <a:r>
              <a:t>• Enterprise HRMS Connectors for Workday, Greenhouse &amp; Lever.</a:t>
            </a:r>
          </a:p>
          <a:p>
            <a:pPr>
              <a:defRPr sz="1300" b="1">
                <a:solidFill>
                  <a:srgbClr val="818CF8"/>
                </a:solidFill>
              </a:defRPr>
            </a:pPr>
            <a:r>
              <a:t>👥 Presented By: Aryan (Roll: 28240533) &amp; Nitish (Roll: 28240529)</a:t>
            </a:r>
            <a:br/>
            <a:r>
              <a:t>🏛️ Institution: Panipat Institute of Engineering &amp; Technology (PIET)</a:t>
            </a:r>
            <a:br/>
            <a:r>
              <a:t>🚀 Live Demo App: https://aryan8182-hirelens-ai-resume-analyzer-app-p2fpgo.streamlit.app/</a:t>
            </a:r>
            <a:br/>
            <a:r>
              <a:t>🔗 GitHub Repository: https://github.com/Aryan8182/Hirelens-ai-resume-analyzer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