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9997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4000" b="1">
                <a:solidFill>
                  <a:srgbClr val="06B6D4"/>
                </a:solidFill>
                <a:latin typeface="Calibri"/>
              </a:defRPr>
            </a:pPr>
            <a:r>
              <a:t>HireLens</a:t>
            </a:r>
          </a:p>
          <a:p>
            <a:pPr>
              <a:spcAft>
                <a:spcPts val="2000"/>
              </a:spcAft>
              <a:defRPr sz="2000" b="1">
                <a:solidFill>
                  <a:srgbClr val="F8FAFC"/>
                </a:solidFill>
                <a:latin typeface="Calibri"/>
              </a:defRPr>
            </a:pPr>
            <a:r>
              <a:t>AI-Powered Resume Screening, Skill Gap Analysis &amp; Job Matching System</a:t>
            </a:r>
          </a:p>
          <a:p>
            <a:pPr>
              <a:spcAft>
                <a:spcPts val="28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B.Tech 3rd Year Capstone Defense Presentation | AI &amp; ML Department</a:t>
            </a:r>
          </a:p>
          <a:p>
            <a:pPr>
              <a:spcAft>
                <a:spcPts val="400"/>
              </a:spcAft>
              <a:defRPr sz="1200" b="1">
                <a:solidFill>
                  <a:srgbClr val="F59E0B"/>
                </a:solidFill>
              </a:defRPr>
            </a:pPr>
            <a:r>
              <a:t>PROJECT TEAM MEMBERS:</a:t>
            </a:r>
          </a:p>
          <a:p>
            <a:pPr>
              <a:spcAft>
                <a:spcPts val="1200"/>
              </a:spcAft>
              <a:defRPr sz="1400" b="1">
                <a:solidFill>
                  <a:srgbClr val="F8FAFC"/>
                </a:solidFill>
              </a:defRPr>
            </a:pPr>
            <a:r>
              <a:t>• Aryan  (Roll No: 28240533)   |   • Nitish  (Roll No: 28240529)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Panipat Institute of Engineering &amp; Technology (PIET)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alibri"/>
              </a:defRPr>
            </a:pPr>
            <a:r>
              <a:t>HIRELENS CAPSTONE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Calibri"/>
              </a:defRPr>
            </a:pPr>
            <a:r>
              <a:t>1. Project Overview &amp; Core Objectives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59E0B"/>
                </a:solidFill>
              </a:defRPr>
            </a:pPr>
            <a:r>
              <a:t>THE ATS PROBLEM STATEMENT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F8FAFC"/>
                </a:solidFill>
              </a:rPr>
              <a:t>• High Applicant Volume: </a:t>
            </a:r>
            <a:r>
              <a:rPr sz="1200">
                <a:solidFill>
                  <a:srgbClr val="94A3B8"/>
                </a:solidFill>
              </a:rPr>
              <a:t>Recruiters receive hundreds of resumes per posting, causing severe manual screening bottlenecks.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F8FAFC"/>
                </a:solidFill>
              </a:rPr>
              <a:t>• Keyword Rigidity: </a:t>
            </a:r>
            <a:r>
              <a:rPr sz="1200">
                <a:solidFill>
                  <a:srgbClr val="94A3B8"/>
                </a:solidFill>
              </a:rPr>
              <a:t>Traditional ATS tools rely on exact string matching, rejecting qualified candidates who use synonyms.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F8FAFC"/>
                </a:solidFill>
              </a:rPr>
              <a:t>• Lack of Context: </a:t>
            </a:r>
            <a:r>
              <a:rPr sz="1200">
                <a:solidFill>
                  <a:srgbClr val="94A3B8"/>
                </a:solidFill>
              </a:rPr>
              <a:t>Fails to recognize that 'Deep Learning' aligns with 'Machine Learning' or 'React' with 'Frontend Dev'.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F8FAFC"/>
                </a:solidFill>
              </a:rPr>
              <a:t>• No Skill Gap Analysis: </a:t>
            </a:r>
            <a:r>
              <a:rPr sz="1200">
                <a:solidFill>
                  <a:srgbClr val="94A3B8"/>
                </a:solidFill>
              </a:rPr>
              <a:t>Legacy tools score resumes without providing actionable feedback to candidates on missing skills.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42255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87649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6B6D4"/>
                </a:solidFill>
              </a:defRPr>
            </a:pPr>
            <a:r>
              <a:t>CORE SYSTEM OBJECTIVES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1. Semantic Vector Matching: </a:t>
            </a:r>
            <a:r>
              <a:rPr sz="1200">
                <a:solidFill>
                  <a:srgbClr val="94A3B8"/>
                </a:solidFill>
              </a:rPr>
              <a:t>Utilize SBERT (all-MiniLM-L6-v2) 384D embeddings to evaluate contextual meaning.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2. 7-Domain Skill Taxonomy: </a:t>
            </a:r>
            <a:r>
              <a:rPr sz="1200">
                <a:solidFill>
                  <a:srgbClr val="94A3B8"/>
                </a:solidFill>
              </a:rPr>
              <a:t>Categorize candidate skills across Programming, ML/AI, Web, Cloud, DB, Tools, and Soft Skills.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3. Non-Capturing Regex Audit: </a:t>
            </a:r>
            <a:r>
              <a:rPr sz="1200">
                <a:solidFill>
                  <a:srgbClr val="94A3B8"/>
                </a:solidFill>
              </a:rPr>
              <a:t>Extract clean contact data (emails, 10-13 digit phone numbers) without text truncation.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4. Hybrid Scoring Model: </a:t>
            </a:r>
            <a:r>
              <a:rPr sz="1200">
                <a:solidFill>
                  <a:srgbClr val="94A3B8"/>
                </a:solidFill>
              </a:rPr>
              <a:t>Combine SBERT (45%), Skill Ratio (35%), and TF-IDF (20%) into a robust 0-100% composite score.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F8FAFC"/>
                </a:solidFill>
              </a:rPr>
              <a:t>5. Audit History &amp; UI: </a:t>
            </a:r>
            <a:r>
              <a:rPr sz="1200">
                <a:solidFill>
                  <a:srgbClr val="94A3B8"/>
                </a:solidFill>
              </a:rPr>
              <a:t>Interactive Streamlit Web UI with Plotly skill radar charts and SQLite evaluation history logging.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alibri"/>
              </a:defRPr>
            </a:pPr>
            <a:r>
              <a:t>HIRELENS CAPSTONE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Calibri"/>
              </a:defRPr>
            </a:pPr>
            <a:r>
              <a:t>2. End-to-End System Architecture &amp;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328416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508760"/>
            <a:ext cx="305409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06B6D4"/>
                </a:solidFill>
              </a:defRPr>
            </a:pPr>
            <a:r>
              <a:t>STAGE 1: INGESTION</a:t>
            </a:r>
          </a:p>
          <a:p>
            <a:pPr>
              <a:spcAft>
                <a:spcPts val="600"/>
              </a:spcAft>
              <a:defRPr sz="1400" b="1">
                <a:solidFill>
                  <a:srgbClr val="F8FAFC"/>
                </a:solidFill>
              </a:defRPr>
            </a:pPr>
            <a:r>
              <a:t>PDF / DOCX Parsing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pdfplumber &amp; python-docx layout-aware extraction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371600"/>
            <a:ext cx="3328416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62856" y="1508760"/>
            <a:ext cx="305409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F59E0B"/>
                </a:solidFill>
              </a:defRPr>
            </a:pPr>
            <a:r>
              <a:t>STAGE 2: PREPROCESSING</a:t>
            </a:r>
          </a:p>
          <a:p>
            <a:pPr>
              <a:spcAft>
                <a:spcPts val="600"/>
              </a:spcAft>
              <a:defRPr sz="1400" b="1">
                <a:solidFill>
                  <a:srgbClr val="F8FAFC"/>
                </a:solidFill>
              </a:defRPr>
            </a:pPr>
            <a:r>
              <a:t>Regex Contact Audit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Non-capturing regex (?:...) for email &amp; 10-13 digit phone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9872" y="1371600"/>
            <a:ext cx="3328416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57032" y="1508760"/>
            <a:ext cx="305409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06B6D4"/>
                </a:solidFill>
              </a:defRPr>
            </a:pPr>
            <a:r>
              <a:t>STAGE 3: SKILL ENGINE</a:t>
            </a:r>
          </a:p>
          <a:p>
            <a:pPr>
              <a:spcAft>
                <a:spcPts val="600"/>
              </a:spcAft>
              <a:defRPr sz="1400" b="1">
                <a:solidFill>
                  <a:srgbClr val="F8FAFC"/>
                </a:solidFill>
              </a:defRPr>
            </a:pPr>
            <a:r>
              <a:t>7-Domain Taxonomy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Rule-based &amp; word boundary regex skill categorization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3328416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069080"/>
            <a:ext cx="305409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F59E0B"/>
                </a:solidFill>
              </a:defRPr>
            </a:pPr>
            <a:r>
              <a:t>STAGE 4: DUAL VECTOR</a:t>
            </a:r>
          </a:p>
          <a:p>
            <a:pPr>
              <a:spcAft>
                <a:spcPts val="600"/>
              </a:spcAft>
              <a:defRPr sz="1400" b="1">
                <a:solidFill>
                  <a:srgbClr val="F8FAFC"/>
                </a:solidFill>
              </a:defRPr>
            </a:pPr>
            <a:r>
              <a:t>SBERT &amp; TF-IDF Engine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384D SBERT dense vectors + TF-IDF bi-gram sparse matrix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25696" y="3931920"/>
            <a:ext cx="3328416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2856" y="4069080"/>
            <a:ext cx="305409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06B6D4"/>
                </a:solidFill>
              </a:defRPr>
            </a:pPr>
            <a:r>
              <a:t>STAGE 5: HYBRID ATS</a:t>
            </a:r>
          </a:p>
          <a:p>
            <a:pPr>
              <a:spcAft>
                <a:spcPts val="600"/>
              </a:spcAft>
              <a:defRPr sz="1400" b="1">
                <a:solidFill>
                  <a:srgbClr val="F8FAFC"/>
                </a:solidFill>
              </a:defRPr>
            </a:pPr>
            <a:r>
              <a:t>Composite Scoring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Weighted formula: 45% SBERT + 35% Skill + 20% TF-IDF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19872" y="3931920"/>
            <a:ext cx="3328416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57032" y="4069080"/>
            <a:ext cx="305409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F59E0B"/>
                </a:solidFill>
              </a:defRPr>
            </a:pPr>
            <a:r>
              <a:t>STAGE 6: DASHBOARD</a:t>
            </a:r>
          </a:p>
          <a:p>
            <a:pPr>
              <a:spcAft>
                <a:spcPts val="600"/>
              </a:spcAft>
              <a:defRPr sz="1400" b="1">
                <a:solidFill>
                  <a:srgbClr val="F8FAFC"/>
                </a:solidFill>
              </a:defRPr>
            </a:pPr>
            <a:r>
              <a:t>Streamlit UI &amp; SQLite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Plotly skill radar, advice engine &amp; ats_history.db log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alibri"/>
              </a:defRPr>
            </a:pPr>
            <a:r>
              <a:t>HIRELENS CAPSTONE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Calibri"/>
              </a:defRPr>
            </a:pPr>
            <a:r>
              <a:t>3. Multi-Format Resume Parsing &amp; Regex Audit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6B6D4"/>
                </a:solidFill>
              </a:defRPr>
            </a:pPr>
            <a:r>
              <a:t>DOCUMENT TEXT EXTRACTION</a:t>
            </a:r>
          </a:p>
          <a:p>
            <a:pPr>
              <a:spcAft>
                <a:spcPts val="1200"/>
              </a:spcAft>
            </a:pPr>
            <a:r>
              <a:rPr b="1" sz="1200">
                <a:solidFill>
                  <a:srgbClr val="F8FAFC"/>
                </a:solidFill>
              </a:rPr>
              <a:t>• PDF Parsing (pdfplumber): </a:t>
            </a:r>
            <a:r>
              <a:rPr sz="1200">
                <a:solidFill>
                  <a:srgbClr val="94A3B8"/>
                </a:solidFill>
              </a:rPr>
              <a:t>Extracts plain text while preserving multi-column layouts, tables, and physical coordinate alignments.</a:t>
            </a:r>
          </a:p>
          <a:p>
            <a:pPr>
              <a:spcAft>
                <a:spcPts val="1200"/>
              </a:spcAft>
            </a:pPr>
            <a:r>
              <a:rPr b="1" sz="1200">
                <a:solidFill>
                  <a:srgbClr val="F8FAFC"/>
                </a:solidFill>
              </a:rPr>
              <a:t>• DOCX Parsing (python-docx): </a:t>
            </a:r>
            <a:r>
              <a:rPr sz="1200">
                <a:solidFill>
                  <a:srgbClr val="94A3B8"/>
                </a:solidFill>
              </a:rPr>
              <a:t>Iterates through document paragraphs and table cells to build clean text streams.</a:t>
            </a:r>
          </a:p>
          <a:p>
            <a:pPr>
              <a:spcAft>
                <a:spcPts val="1200"/>
              </a:spcAft>
            </a:pPr>
            <a:r>
              <a:rPr b="1" sz="1200">
                <a:solidFill>
                  <a:srgbClr val="F8FAFC"/>
                </a:solidFill>
              </a:rPr>
              <a:t>• Text Normalization: </a:t>
            </a:r>
            <a:r>
              <a:rPr sz="1200">
                <a:solidFill>
                  <a:srgbClr val="94A3B8"/>
                </a:solidFill>
              </a:rPr>
              <a:t>Cleans bullet points, normalizes irregular whitespace, and strips non-ASCII noise characters.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42255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87649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</a:defRPr>
            </a:pPr>
            <a:r>
              <a:t>NON-CAPTURING REGEX CONTACT AUDIT</a:t>
            </a:r>
          </a:p>
          <a:p>
            <a:pPr>
              <a:spcAft>
                <a:spcPts val="400"/>
              </a:spcAft>
              <a:defRPr sz="1200" b="1">
                <a:solidFill>
                  <a:srgbClr val="F8FAFC"/>
                </a:solidFill>
              </a:defRPr>
            </a:pPr>
            <a:r>
              <a:t>Why Non-Capturing Groups (?:...) Are Critical: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</a:defRPr>
            </a:pPr>
            <a:r>
              <a:t>Standard regex capturing groups (...) in Python's re.finditer() return tuples of only matched sub-fragments, truncating full mobile numbers. Non-capturing groups (?:...) group logic without truncating string context.</a:t>
            </a:r>
          </a:p>
          <a:p>
            <a:pPr>
              <a:spcAft>
                <a:spcPts val="400"/>
              </a:spcAft>
              <a:defRPr sz="1100" b="1">
                <a:solidFill>
                  <a:srgbClr val="06B6D4"/>
                </a:solidFill>
              </a:defRPr>
            </a:pPr>
            <a:r>
              <a:t>PATTERNS USED IN HIRELENS:</a:t>
            </a:r>
          </a:p>
          <a:p>
            <a:pPr>
              <a:defRPr sz="1050">
                <a:solidFill>
                  <a:srgbClr val="FCA5A5"/>
                </a:solidFill>
                <a:latin typeface="Courier New"/>
              </a:defRPr>
            </a:pPr>
            <a:r>
              <a:t>EMAIL_PATTERN = r'[a-zA-Z0-9._%+-]+@[a-zA-Z0-9.-]+\.[a-zA-Z]{2,}'</a:t>
            </a:r>
            <a:br/>
            <a:br/>
            <a:r>
              <a:t>PHONE_PATTERN = r'(?:\+91[\-\s]?)?[6-9]\d{9}'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alibri"/>
              </a:defRPr>
            </a:pPr>
            <a:r>
              <a:t>HIRELENS CAPSTONE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Calibri"/>
              </a:defRPr>
            </a:pPr>
            <a:r>
              <a:t>4. 7-Domain NLP Skill Taxonomy Engine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1005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06B6D4"/>
                </a:solidFill>
              </a:defRPr>
            </a:pPr>
            <a:r>
              <a:t>1. Programming Languages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Python, C++, Java, JavaScript, TypeScript, Go, Rust, R, SQL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5120640" cy="1005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6517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F59E0B"/>
                </a:solidFill>
              </a:defRPr>
            </a:pPr>
            <a:r>
              <a:t>2. Machine Learning &amp; AI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PyTorch, TensorFlow, Scikit-Learn, SpaCy, HuggingFace, RAG, LLMs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49040"/>
            <a:ext cx="5120640" cy="1005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84048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06B6D4"/>
                </a:solidFill>
              </a:defRPr>
            </a:pPr>
            <a:r>
              <a:t>3. Web Development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React, Node.js, FastAPI, Flask, Django, HTML5, CSS3, REST APIs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937760"/>
            <a:ext cx="5120640" cy="1005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02920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F59E0B"/>
                </a:solidFill>
              </a:defRPr>
            </a:pPr>
            <a:r>
              <a:t>4. Cloud &amp; DevOps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AWS, Azure, GCP, Docker, Kubernetes, CI/CD Pipelines, Git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5120640" cy="1005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46304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06B6D4"/>
                </a:solidFill>
              </a:defRPr>
            </a:pPr>
            <a:r>
              <a:t>5. Databases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PostgreSQL, MySQL, MongoDB, Redis, SQLite, Pinecone, ChromaDB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560320"/>
            <a:ext cx="5120640" cy="1005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6517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F59E0B"/>
                </a:solidFill>
              </a:defRPr>
            </a:pPr>
            <a:r>
              <a:t>6. Frameworks &amp; Tools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Pandas, NumPy, Matplotlib, Seaborn, Jupyter, VS Code, JIRA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749040"/>
            <a:ext cx="5120640" cy="1005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384048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06B6D4"/>
                </a:solidFill>
              </a:defRPr>
            </a:pPr>
            <a:r>
              <a:t>7. Soft Skills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Leadership, Problem Solving, Critical Thinking, Communication, Teamwork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alibri"/>
              </a:defRPr>
            </a:pPr>
            <a:r>
              <a:t>HIRELENS CAPSTONE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Calibri"/>
              </a:defRPr>
            </a:pPr>
            <a:r>
              <a:t>5. Dual-Vector Semantic Matching Mechanics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6B6D4"/>
                </a:solidFill>
              </a:defRPr>
            </a:pPr>
            <a:r>
              <a:t>SENTENCE-BERT (SBERT) EMBEDDINGS</a:t>
            </a:r>
          </a:p>
          <a:p>
            <a:pPr>
              <a:spcAft>
                <a:spcPts val="1200"/>
              </a:spcAft>
            </a:pPr>
            <a:r>
              <a:rPr b="1" sz="1200">
                <a:solidFill>
                  <a:srgbClr val="F8FAFC"/>
                </a:solidFill>
              </a:rPr>
              <a:t>• Pre-trained Model: </a:t>
            </a:r>
            <a:r>
              <a:rPr sz="1200">
                <a:solidFill>
                  <a:srgbClr val="94A3B8"/>
                </a:solidFill>
              </a:rPr>
              <a:t>Uses all-MiniLM-L6-v2 mapping text into a 384-dimensional dense vector space.</a:t>
            </a:r>
          </a:p>
          <a:p>
            <a:pPr>
              <a:spcAft>
                <a:spcPts val="1200"/>
              </a:spcAft>
            </a:pPr>
            <a:r>
              <a:rPr b="1" sz="1200">
                <a:solidFill>
                  <a:srgbClr val="F8FAFC"/>
                </a:solidFill>
              </a:rPr>
              <a:t>• Bi-Encoder Efficiency: </a:t>
            </a:r>
            <a:r>
              <a:rPr sz="1200">
                <a:solidFill>
                  <a:srgbClr val="94A3B8"/>
                </a:solidFill>
              </a:rPr>
              <a:t>Independently encodes resume and job description, enabling fast O(N) cosine similarity matching.</a:t>
            </a:r>
          </a:p>
          <a:p>
            <a:pPr>
              <a:spcAft>
                <a:spcPts val="1200"/>
              </a:spcAft>
            </a:pPr>
            <a:r>
              <a:rPr b="1" sz="1200">
                <a:solidFill>
                  <a:srgbClr val="F8FAFC"/>
                </a:solidFill>
              </a:rPr>
              <a:t>• Semantic Advantage: </a:t>
            </a:r>
            <a:r>
              <a:rPr sz="1200">
                <a:solidFill>
                  <a:srgbClr val="94A3B8"/>
                </a:solidFill>
              </a:rPr>
              <a:t>Captures deep contextual meaning (e.g., matching 'Deep Learning' with 'Neural Networks' despite 0% exact word overlap).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42255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87649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59E0B"/>
                </a:solidFill>
              </a:defRPr>
            </a:pPr>
            <a:r>
              <a:t>VECTOR COSINE SIMILARITY FORMULA</a:t>
            </a:r>
          </a:p>
          <a:p>
            <a:pPr>
              <a:spcAft>
                <a:spcPts val="600"/>
              </a:spcAft>
              <a:defRPr sz="1400" b="1">
                <a:solidFill>
                  <a:srgbClr val="06B6D4"/>
                </a:solidFill>
                <a:latin typeface="Courier New"/>
              </a:defRPr>
            </a:pPr>
            <a:r>
              <a:t>Cosine Sim(A, B) = (A · B) / (||A|| × ||B||)</a:t>
            </a:r>
          </a:p>
          <a:p>
            <a:pPr>
              <a:spcAft>
                <a:spcPts val="1600"/>
              </a:spcAft>
              <a:defRPr sz="1300">
                <a:solidFill>
                  <a:srgbClr val="F59E0B"/>
                </a:solidFill>
                <a:latin typeface="Courier New"/>
              </a:defRPr>
            </a:pPr>
            <a:r>
              <a:t>= Σ(A_i × B_i)  /  [ √Σ(A_i²) × √Σ(B_i²) ]</a:t>
            </a:r>
          </a:p>
          <a:p>
            <a:pPr>
              <a:spcAft>
                <a:spcPts val="400"/>
              </a:spcAft>
              <a:defRPr sz="1200" b="1">
                <a:solidFill>
                  <a:srgbClr val="F8FAFC"/>
                </a:solidFill>
              </a:defRPr>
            </a:pPr>
            <a:r>
              <a:t>Why Cosine Similarity Matters: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Measures the angle between vector directions rather than vector length. This normalizes document length differences, allowing 1-page and 3-page resumes to be scored fairly.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alibri"/>
              </a:defRPr>
            </a:pPr>
            <a:r>
              <a:t>HIRELENS CAPSTONE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Calibri"/>
              </a:defRPr>
            </a:pPr>
            <a:r>
              <a:t>6. Hybrid ATS Scoring Algorithm &amp; Weights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59E0B"/>
                </a:solidFill>
              </a:defRPr>
            </a:pPr>
            <a:r>
              <a:t>COMPOSITE ATS MATCH SCORE FORMULA:</a:t>
            </a:r>
          </a:p>
          <a:p>
            <a:pPr>
              <a:defRPr sz="1500" b="1">
                <a:solidFill>
                  <a:srgbClr val="F8FAFC"/>
                </a:solidFill>
                <a:latin typeface="Courier New"/>
              </a:defRPr>
            </a:pPr>
            <a:r>
              <a:t>ATS Score = (0.45 × SBERT_Sim)  +  (0.35 × Skill_Coverage_Ratio)  +  (0.20 × TFIDF_Sim)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3328416" cy="3108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200400"/>
            <a:ext cx="305409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6B6D4"/>
                </a:solidFill>
              </a:defRPr>
            </a:pPr>
            <a:r>
              <a:t>45% SBERT SEMANTIC MATCH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Evaluates deep conceptual alignment using 384D transformer sentence embeddings. Prevents false rejections due to varied phrasing.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3017520"/>
            <a:ext cx="3328416" cy="3108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62856" y="3200400"/>
            <a:ext cx="305409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F59E0B"/>
                </a:solidFill>
              </a:defRPr>
            </a:pPr>
            <a:r>
              <a:t>35% SKILL COVERAGE RATIO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Calculates hard technical prerequisite overlap:  |Candidate_Skills ∩ Job_Skills| / |Job_Skills|. Guarantees core skills are present.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3017520"/>
            <a:ext cx="3328416" cy="3108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7032" y="3200400"/>
            <a:ext cx="305409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6B6D4"/>
                </a:solidFill>
              </a:defRPr>
            </a:pPr>
            <a:r>
              <a:t>20% TF-IDF KEYWORD SIM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Measures exact n-gram term frequencies. Rewards candidates who use specific industry terminology aligned with recruiter JDs.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alibri"/>
              </a:defRPr>
            </a:pPr>
            <a:r>
              <a:t>HIRELENS CAPSTONE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Calibri"/>
              </a:defRPr>
            </a:pPr>
            <a:r>
              <a:t>7. Recommendation Engine &amp; Resume Audit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508760"/>
            <a:ext cx="484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6B6D4"/>
                </a:solidFill>
              </a:defRPr>
            </a:pPr>
            <a:r>
              <a:t>1. CONTACT INFORMATION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Validates presence of Email, Phone Number, LinkedIn profile link, and GitHub repository.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12064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508760"/>
            <a:ext cx="484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F59E0B"/>
                </a:solidFill>
              </a:defRPr>
            </a:pPr>
            <a:r>
              <a:t>2. WORD COUNT BOUNDS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Ensures resume length stays between 300 and 1500 words to prevent under/over-formatting.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26080"/>
            <a:ext cx="512064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063240"/>
            <a:ext cx="484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6B6D4"/>
                </a:solidFill>
              </a:defRPr>
            </a:pPr>
            <a:r>
              <a:t>3. SECTION HEADERS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Scans for essential ATS section headers: Education, Experience, Skills, and Projects.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926080"/>
            <a:ext cx="512064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3063240"/>
            <a:ext cx="484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F59E0B"/>
                </a:solidFill>
              </a:defRPr>
            </a:pPr>
            <a:r>
              <a:t>4. ACTION VERB DENSITY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Detects strong impact action verbs (e.g., Designed, Developed, Optimized, Implemented).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4480560"/>
            <a:ext cx="512064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4617720"/>
            <a:ext cx="484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6B6D4"/>
                </a:solidFill>
              </a:defRPr>
            </a:pPr>
            <a:r>
              <a:t>5. SKILL GAP ADVICE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Identifies missing required skills and generates instant actionable resume improvement feedback.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alibri"/>
              </a:defRPr>
            </a:pPr>
            <a:r>
              <a:t>HIRELENS CAPSTONE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Calibri"/>
              </a:defRPr>
            </a:pPr>
            <a:r>
              <a:t>8. Interactive Streamlit UI &amp; SQLite History Logging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6B6D4"/>
                </a:solidFill>
              </a:defRPr>
            </a:pPr>
            <a:r>
              <a:t>STREAMLIT DASHBOARD FEATURES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F8FAFC"/>
                </a:solidFill>
              </a:rPr>
              <a:t>• Preset Demo Quick-Start: </a:t>
            </a:r>
            <a:r>
              <a:rPr sz="1200">
                <a:solidFill>
                  <a:srgbClr val="94A3B8"/>
                </a:solidFill>
              </a:rPr>
              <a:t>Click 'Load Preset Sample ML Data' for instant live viva demonstration.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F8FAFC"/>
                </a:solidFill>
              </a:rPr>
              <a:t>• Plotly Skill Radar Chart: </a:t>
            </a:r>
            <a:r>
              <a:rPr sz="1200">
                <a:solidFill>
                  <a:srgbClr val="94A3B8"/>
                </a:solidFill>
              </a:rPr>
              <a:t>Interactive polar radar visualization comparing candidate vs job skill proficiency.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F8FAFC"/>
                </a:solidFill>
              </a:rPr>
              <a:t>• Batch Candidate Ranking: </a:t>
            </a:r>
            <a:r>
              <a:rPr sz="1200">
                <a:solidFill>
                  <a:srgbClr val="94A3B8"/>
                </a:solidFill>
              </a:rPr>
              <a:t>Upload multiple resumes simultaneously to display a sorted candidate leaderboard.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F8FAFC"/>
                </a:solidFill>
              </a:rPr>
              <a:t>• Dark Glassmorphic UI: </a:t>
            </a:r>
            <a:r>
              <a:rPr sz="1200">
                <a:solidFill>
                  <a:srgbClr val="94A3B8"/>
                </a:solidFill>
              </a:rPr>
              <a:t>Vercel/Linear AI-inspired high-contrast theme for enhanced visual appeal.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42255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87649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59E0B"/>
                </a:solidFill>
              </a:defRPr>
            </a:pPr>
            <a:r>
              <a:t>SQLITE EVALUATION LOGGING (ats_history.db)</a:t>
            </a:r>
          </a:p>
          <a:p>
            <a:pPr>
              <a:spcAft>
                <a:spcPts val="1200"/>
              </a:spcAft>
            </a:pPr>
            <a:r>
              <a:rPr b="1" sz="1200">
                <a:solidFill>
                  <a:srgbClr val="F8FAFC"/>
                </a:solidFill>
              </a:rPr>
              <a:t>• Persistent Audit Trail: </a:t>
            </a:r>
            <a:r>
              <a:rPr sz="1200">
                <a:solidFill>
                  <a:srgbClr val="94A3B8"/>
                </a:solidFill>
              </a:rPr>
              <a:t>Saves evaluation timestamp, candidate name, job title, ATS score, and match grade into SQLite database.</a:t>
            </a:r>
          </a:p>
          <a:p>
            <a:pPr>
              <a:spcAft>
                <a:spcPts val="1200"/>
              </a:spcAft>
            </a:pPr>
            <a:r>
              <a:rPr b="1" sz="1200">
                <a:solidFill>
                  <a:srgbClr val="F8FAFC"/>
                </a:solidFill>
              </a:rPr>
              <a:t>• Clear History Feature: </a:t>
            </a:r>
            <a:r>
              <a:rPr sz="1200">
                <a:solidFill>
                  <a:srgbClr val="94A3B8"/>
                </a:solidFill>
              </a:rPr>
              <a:t>Provides a one-click 'Clear All Audit Logs' button in Streamlit sidebar to safely reset history tables.</a:t>
            </a:r>
          </a:p>
          <a:p>
            <a:pPr>
              <a:spcAft>
                <a:spcPts val="1200"/>
              </a:spcAft>
            </a:pPr>
            <a:r>
              <a:rPr b="1" sz="1200">
                <a:solidFill>
                  <a:srgbClr val="F8FAFC"/>
                </a:solidFill>
              </a:rPr>
              <a:t>• Database Schema: </a:t>
            </a:r>
            <a:r>
              <a:rPr sz="1200">
                <a:solidFill>
                  <a:srgbClr val="94A3B8"/>
                </a:solidFill>
              </a:rPr>
              <a:t>id (INTEGER PRIMARY KEY), timestamp (DATETIME), candidate_name (TEXT), job_title (TEXT), score (FLOAT), grade (TEXT).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alibri"/>
              </a:defRPr>
            </a:pPr>
            <a:r>
              <a:t>HIRELENS CAPSTONE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Calibri"/>
              </a:defRPr>
            </a:pPr>
            <a:r>
              <a:t>9. FastAPI REST Microservice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36289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6B6D4"/>
                </a:solidFill>
              </a:defRPr>
            </a:pPr>
            <a:r>
              <a:t>ENTERPRISE RESTFUL API ENDPOINTS (api.py)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F59E0B"/>
                </a:solidFill>
                <a:latin typeface="Courier New"/>
              </a:rPr>
              <a:t>GET /  –  </a:t>
            </a:r>
            <a:r>
              <a:rPr sz="1200">
                <a:solidFill>
                  <a:srgbClr val="F8FAFC"/>
                </a:solidFill>
              </a:rPr>
              <a:t>Health check endpoint returning API status, version, and server timestamp.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F59E0B"/>
                </a:solidFill>
                <a:latin typeface="Courier New"/>
              </a:rPr>
              <a:t>GET /docs  –  </a:t>
            </a:r>
            <a:r>
              <a:rPr sz="1200">
                <a:solidFill>
                  <a:srgbClr val="F8FAFC"/>
                </a:solidFill>
              </a:rPr>
              <a:t>Interactive Swagger UI OpenAPI documentation for browser-based API testing.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F59E0B"/>
                </a:solidFill>
                <a:latin typeface="Courier New"/>
              </a:rPr>
              <a:t>POST /api/v1/parse-resume  –  </a:t>
            </a:r>
            <a:r>
              <a:rPr sz="1200">
                <a:solidFill>
                  <a:srgbClr val="F8FAFC"/>
                </a:solidFill>
              </a:rPr>
              <a:t>Accepts PDF/DOCX file upload; returns extracted plain text, email, and phone number JSON.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F59E0B"/>
                </a:solidFill>
                <a:latin typeface="Courier New"/>
              </a:rPr>
              <a:t>POST /api/v1/analyze-match  –  </a:t>
            </a:r>
            <a:r>
              <a:rPr sz="1200">
                <a:solidFill>
                  <a:srgbClr val="F8FAFC"/>
                </a:solidFill>
              </a:rPr>
              <a:t>Accepts resume &amp; JD text payload; returns SBERT score, skill coverage, and missing skill gap JSON.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F59E0B"/>
                </a:solidFill>
                <a:latin typeface="Courier New"/>
              </a:rPr>
              <a:t>POST /api/v1/batch-rank  –  </a:t>
            </a:r>
            <a:r>
              <a:rPr sz="1200">
                <a:solidFill>
                  <a:srgbClr val="F8FAFC"/>
                </a:solidFill>
              </a:rPr>
              <a:t>Accepts multiple resume files; returns a sorted candidate ranking leaderboard JSON response.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alibri"/>
              </a:defRPr>
            </a:pPr>
            <a:r>
              <a:t>HIRELENS CAPSTONE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Calibri"/>
              </a:defRPr>
            </a:pPr>
            <a:r>
              <a:t>10. Experimental Results &amp; Performance Case Study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6B6D4"/>
                </a:solidFill>
              </a:defRPr>
            </a:pPr>
            <a:r>
              <a:t>CASE STUDY: ML ENGINEER CANDIDATE</a:t>
            </a:r>
          </a:p>
          <a:p>
            <a:pPr>
              <a:spcAft>
                <a:spcPts val="1200"/>
              </a:spcAft>
            </a:pPr>
            <a:r>
              <a:rPr b="1" sz="1200">
                <a:solidFill>
                  <a:srgbClr val="F8FAFC"/>
                </a:solidFill>
              </a:rPr>
              <a:t>• SBERT Semantic Score: </a:t>
            </a:r>
            <a:r>
              <a:rPr b="0" sz="1200">
                <a:solidFill>
                  <a:srgbClr val="94A3B8"/>
                </a:solidFill>
              </a:rPr>
              <a:t>88.0%  (High conceptual fit)</a:t>
            </a:r>
          </a:p>
          <a:p>
            <a:pPr>
              <a:spcAft>
                <a:spcPts val="1200"/>
              </a:spcAft>
            </a:pPr>
            <a:r>
              <a:rPr b="1" sz="1200">
                <a:solidFill>
                  <a:srgbClr val="F8FAFC"/>
                </a:solidFill>
              </a:rPr>
              <a:t>• Skill Coverage Ratio: </a:t>
            </a:r>
            <a:r>
              <a:rPr b="0" sz="1200">
                <a:solidFill>
                  <a:srgbClr val="94A3B8"/>
                </a:solidFill>
              </a:rPr>
              <a:t>85.0%  (17 of 20 skills matched)</a:t>
            </a:r>
          </a:p>
          <a:p>
            <a:pPr>
              <a:spcAft>
                <a:spcPts val="1200"/>
              </a:spcAft>
            </a:pPr>
            <a:r>
              <a:rPr b="1" sz="1200">
                <a:solidFill>
                  <a:srgbClr val="F8FAFC"/>
                </a:solidFill>
              </a:rPr>
              <a:t>• TF-IDF Keyword Score: </a:t>
            </a:r>
            <a:r>
              <a:rPr b="0" sz="1200">
                <a:solidFill>
                  <a:srgbClr val="94A3B8"/>
                </a:solidFill>
              </a:rPr>
              <a:t>89.0%  (Strong bi-gram phrase overlap)</a:t>
            </a:r>
          </a:p>
          <a:p>
            <a:pPr>
              <a:spcAft>
                <a:spcPts val="1200"/>
              </a:spcAft>
            </a:pPr>
            <a:r>
              <a:rPr b="1" sz="1200">
                <a:solidFill>
                  <a:srgbClr val="F59E0B"/>
                </a:solidFill>
              </a:rPr>
              <a:t>• COMPOSITE ATS MATCH SCORE: </a:t>
            </a:r>
            <a:r>
              <a:rPr b="1" sz="1200">
                <a:solidFill>
                  <a:srgbClr val="06B6D4"/>
                </a:solidFill>
              </a:rPr>
              <a:t>87.5%  (STRONG MATCH GRADE)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42255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87649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59E0B"/>
                </a:solidFill>
              </a:defRPr>
            </a:pPr>
            <a:r>
              <a:t>SYSTEM LATENCY &amp; RESOURCE BENCHMARKS</a:t>
            </a:r>
          </a:p>
          <a:p>
            <a:pPr>
              <a:spcAft>
                <a:spcPts val="1200"/>
              </a:spcAft>
            </a:pPr>
            <a:r>
              <a:rPr b="1" sz="1200">
                <a:solidFill>
                  <a:srgbClr val="F8FAFC"/>
                </a:solidFill>
              </a:rPr>
              <a:t>• Processing Latency: </a:t>
            </a:r>
            <a:r>
              <a:rPr sz="1200">
                <a:solidFill>
                  <a:srgbClr val="94A3B8"/>
                </a:solidFill>
              </a:rPr>
              <a:t>&lt; 1.8 seconds per resume evaluation on CPU.</a:t>
            </a:r>
          </a:p>
          <a:p>
            <a:pPr>
              <a:spcAft>
                <a:spcPts val="1200"/>
              </a:spcAft>
            </a:pPr>
            <a:r>
              <a:rPr b="1" sz="1200">
                <a:solidFill>
                  <a:srgbClr val="F8FAFC"/>
                </a:solidFill>
              </a:rPr>
              <a:t>• SBERT Encoding Time: </a:t>
            </a:r>
            <a:r>
              <a:rPr sz="1200">
                <a:solidFill>
                  <a:srgbClr val="94A3B8"/>
                </a:solidFill>
              </a:rPr>
              <a:t>~45 ms per sentence using all-MiniLM-L6-v2.</a:t>
            </a:r>
          </a:p>
          <a:p>
            <a:pPr>
              <a:spcAft>
                <a:spcPts val="1200"/>
              </a:spcAft>
            </a:pPr>
            <a:r>
              <a:rPr b="1" sz="1200">
                <a:solidFill>
                  <a:srgbClr val="F8FAFC"/>
                </a:solidFill>
              </a:rPr>
              <a:t>• Memory Footprint: </a:t>
            </a:r>
            <a:r>
              <a:rPr sz="1200">
                <a:solidFill>
                  <a:srgbClr val="94A3B8"/>
                </a:solidFill>
              </a:rPr>
              <a:t>&lt; 250 MB total RAM usage during live inference.</a:t>
            </a:r>
          </a:p>
          <a:p>
            <a:pPr>
              <a:spcAft>
                <a:spcPts val="1200"/>
              </a:spcAft>
            </a:pPr>
            <a:r>
              <a:rPr b="1" sz="1200">
                <a:solidFill>
                  <a:srgbClr val="F8FAFC"/>
                </a:solidFill>
              </a:rPr>
              <a:t>• Hardware Scalability: </a:t>
            </a:r>
            <a:r>
              <a:rPr sz="1200">
                <a:solidFill>
                  <a:srgbClr val="94A3B8"/>
                </a:solidFill>
              </a:rPr>
              <a:t>Runs seamlessly on standard CPU hardware without requiring GPU acceleration.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alibri"/>
              </a:defRPr>
            </a:pPr>
            <a:r>
              <a:t>HIRELENS CAPSTONE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Calibri"/>
              </a:defRPr>
            </a:pPr>
            <a:r>
              <a:t>11. Future Scope &amp; Project Conclusion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6B6D4"/>
                </a:solidFill>
              </a:defRPr>
            </a:pPr>
            <a:r>
              <a:t>FUTURE ENHANCEMENTS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F8FAFC"/>
                </a:solidFill>
              </a:rPr>
              <a:t>• Optical Character Recognition (OCR): </a:t>
            </a:r>
            <a:r>
              <a:rPr sz="1200">
                <a:solidFill>
                  <a:srgbClr val="94A3B8"/>
                </a:solidFill>
              </a:rPr>
              <a:t>Integrate Tesseract OCR to parse scanned image-based resumes.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F8FAFC"/>
                </a:solidFill>
              </a:rPr>
              <a:t>• Vector DB Integration: </a:t>
            </a:r>
            <a:r>
              <a:rPr sz="1200">
                <a:solidFill>
                  <a:srgbClr val="94A3B8"/>
                </a:solidFill>
              </a:rPr>
              <a:t>Utilize FAISS or Qdrant vector databases for instant searching across millions of candidate resumes.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F8FAFC"/>
                </a:solidFill>
              </a:rPr>
              <a:t>• Multilingual NLP Support: </a:t>
            </a:r>
            <a:r>
              <a:rPr sz="1200">
                <a:solidFill>
                  <a:srgbClr val="94A3B8"/>
                </a:solidFill>
              </a:rPr>
              <a:t>Extend SBERT sentence embeddings to support multi-language resume screening.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F8FAFC"/>
                </a:solidFill>
              </a:rPr>
              <a:t>• Auto Interview Question Generation: </a:t>
            </a:r>
            <a:r>
              <a:rPr sz="1200">
                <a:solidFill>
                  <a:srgbClr val="94A3B8"/>
                </a:solidFill>
              </a:rPr>
              <a:t>Generate customized technical interview questions based on candidate skill gaps.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42255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87649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59E0B"/>
                </a:solidFill>
              </a:defRPr>
            </a:pPr>
            <a:r>
              <a:t>DEFENSE CONCLUSION</a:t>
            </a:r>
          </a:p>
          <a:p>
            <a:pPr>
              <a:spcAft>
                <a:spcPts val="2000"/>
              </a:spcAft>
              <a:defRPr sz="1150">
                <a:solidFill>
                  <a:srgbClr val="F8FAFC"/>
                </a:solidFill>
              </a:defRPr>
            </a:pPr>
            <a:r>
              <a:t>HireLens successfully transforms traditional ATS resume screening into an intelligent, fair, and contextual evaluation platform. By combining SBERT semantic vectors, 7-domain skill taxonomies, and non-capturing regex contact auditing, HireLens empowers recruiters to discover top talent quickly while providing candidates with actionable feedback.</a:t>
            </a:r>
          </a:p>
          <a:p>
            <a:pPr algn="ctr">
              <a:spcAft>
                <a:spcPts val="400"/>
              </a:spcAft>
              <a:defRPr sz="1400" b="1">
                <a:solidFill>
                  <a:srgbClr val="06B6D4"/>
                </a:solidFill>
              </a:defRPr>
            </a:pPr>
            <a:r>
              <a:t>THANK YOU FOR YOUR TIME &amp; ATTENTION!</a:t>
            </a:r>
          </a:p>
          <a:p>
            <a:pPr algn="ctr">
              <a:defRPr sz="1200">
                <a:solidFill>
                  <a:srgbClr val="94A3B8"/>
                </a:solidFill>
              </a:defRPr>
            </a:pPr>
            <a:r>
              <a:t>Questions &amp; Feedback Are Welcome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