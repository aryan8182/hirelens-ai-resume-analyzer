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0F172A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818CF8"/>
                </a:solidFill>
              </a:defRPr>
            </a:pPr>
            <a:r>
              <a:t>🔍 HireLens</a:t>
            </a:r>
          </a:p>
          <a:p>
            <a:pPr>
              <a:spcAft>
                <a:spcPts val="2500"/>
              </a:spcAft>
              <a:defRPr sz="2200" b="1">
                <a:solidFill>
                  <a:srgbClr val="FFFFFF"/>
                </a:solidFill>
              </a:defRPr>
            </a:pPr>
            <a:r>
              <a:t>AI-Powered Resume Screening, Skill Gap Analysis &amp; Job Matching System</a:t>
            </a:r>
          </a:p>
          <a:p>
            <a:pPr>
              <a:spcAft>
                <a:spcPts val="3000"/>
              </a:spcAft>
              <a:defRPr sz="1400">
                <a:solidFill>
                  <a:srgbClr val="38BDF8"/>
                </a:solidFill>
              </a:defRPr>
            </a:pPr>
            <a:r>
              <a:t>Minor Project 1 Presentation • Department of Artificial Intelligence &amp; Machine Learning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👥 Project Team:  Aryan (Roll: 28240533)  |  Nitish (Roll: 28240529)</a:t>
            </a:r>
            <a:br/>
            <a:r>
              <a:t>🏛️ Institution: Panipat Institute of Engineering &amp; Technology (PIET)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Introduction &amp;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472B6"/>
                </a:solidFill>
              </a:defRPr>
            </a:pPr>
            <a:r>
              <a:t>⚠️ Challenges in Modern Recruitment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High Application Volume: Recruiters receive 250+ resumes per job posting.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Keyword Inflexibility: Traditional ATS tools use rigid exact-string matching.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False Disqualifications: Candidates writing 'Neural Networks' get 0 score if JD says 'Deep Learning'.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Lack of Transparency: Proprietary black-box algorithms provide zero explainability to job seekers.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1206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4D399"/>
                </a:solidFill>
              </a:defRPr>
            </a:pPr>
            <a:r>
              <a:t>✨ The HireLens AI Solution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Deep Semantic Vectors: Sentence-Transformers (all-MiniLM-L6-v2) for context matching.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7-Domain NLP Taxonomy: Multi-domain technical &amp; soft skill coverage analysis.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Hybrid ATS Scoring: Weighted fusion of SBERT, Skill Coverage, and TF-IDF similarity.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</a:defRPr>
            </a:pPr>
            <a:r>
              <a:t>• Actionable Feedback: Missing keyword detection &amp; interactive Streamlit web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System Architecture &amp; Processing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2468880" cy="4389120"/>
          </a:xfrm>
          <a:prstGeom prst="rect">
            <a:avLst/>
          </a:prstGeom>
          <a:solidFill>
            <a:srgbClr val="0F172A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818CF8"/>
                </a:solidFill>
              </a:defRPr>
            </a:pPr>
            <a:r>
              <a:t>1. Document Ingestion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PDF &amp; DOCX parsing via pdfplumber and python-docx text extraction engines.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645920"/>
            <a:ext cx="2468880" cy="4389120"/>
          </a:xfrm>
          <a:prstGeom prst="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</a:defRPr>
            </a:pPr>
            <a:r>
              <a:t>2. NLP Entity Mining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Non-capturing regex contact extractor (Phone, Email, LinkedIn, GitHub).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2468880" cy="4389120"/>
          </a:xfrm>
          <a:prstGeom prst="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4D399"/>
                </a:solidFill>
              </a:defRPr>
            </a:pPr>
            <a:r>
              <a:t>3. Taxonomy Matching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Categorizes candidate skills across 7 technical &amp; soft skill domains.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645920"/>
            <a:ext cx="2468880" cy="4389120"/>
          </a:xfrm>
          <a:prstGeom prst="rect">
            <a:avLst/>
          </a:prstGeom>
          <a:solidFill>
            <a:srgbClr val="0F172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472B6"/>
                </a:solidFill>
              </a:defRPr>
            </a:pPr>
            <a:r>
              <a:t>4. Hybrid ATS Scoring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Weighted fusion of SBERT (45%), Skill Coverage (35%), and TF-IDF (20%).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Mathematical ATS Formula &amp; SBERT Embeddings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1463040"/>
          </a:xfrm>
          <a:prstGeom prst="rect">
            <a:avLst/>
          </a:prstGeom>
          <a:solidFill>
            <a:srgbClr val="0F172A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818CF8"/>
                </a:solidFill>
              </a:defRPr>
            </a:pPr>
            <a:r>
              <a:t>📐 Composite ATS Match Formula</a:t>
            </a:r>
          </a:p>
          <a:p>
            <a:pPr>
              <a:defRPr sz="1800" b="1">
                <a:solidFill>
                  <a:srgbClr val="34D399"/>
                </a:solidFill>
              </a:defRPr>
            </a:pPr>
            <a:r>
              <a:t>ATS Score = (0.45 × SBERT Cosine Sim) + (0.35 × Skill Coverage Ratio) + (0.20 × TF-IDF Cosine Sim)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5120640" cy="310896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🤖 SBERT Semantic Embeddings (45%)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Model: all-MiniLM-L6-v2 (384-dimensional dense vectors).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Calculates cosine distance in deep vector space.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Understands context &amp; synonyms (e.g. PyTorch ≈ Deep Learning).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200400"/>
            <a:ext cx="5120640" cy="3108960"/>
          </a:xfrm>
          <a:prstGeom prst="rect">
            <a:avLst/>
          </a:prstGeom>
          <a:solidFill>
            <a:srgbClr val="0F172A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72B6"/>
                </a:solidFill>
              </a:defRPr>
            </a:pPr>
            <a:r>
              <a:t>📊 Skill Coverage (35%) &amp; TF-IDF (20%)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Skill Coverage: Ratio of candidate matched skills vs total required skills.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TF-IDF Vectorizer: Term Frequency-Inverse Document Frequency matrix.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Verifies exact hard-keyword frequency presence in resume.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Multi-Domain Skill Taxonomy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818CF8"/>
                </a:solidFill>
              </a:defRPr>
            </a:pPr>
            <a:r>
              <a:t>🏷️ 7 Standardized Technical &amp; Soft Skill Categories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Programming Languages: Python, C++, Java, JavaScript, TypeScript, Go, Rust, R, SQL, Swift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Machine Learning &amp; AI: PyTorch, TensorFlow, Scikit-Learn, OpenCV, SpaCy, HuggingFace, RAG, LLM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Web Development: React, Node.js, FastAPI, Flask, Django, HTML5, CSS3, Tailwind, REST API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Cloud &amp; DevOps: AWS, Azure, GCP, Docker, Kubernetes, CI/CD, Terraform, Linux, Git, GitHub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Databases: PostgreSQL, MySQL, MongoDB, Redis, SQLite, Pinecone, ChromaDB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Frameworks &amp; Tools: Pandas, NumPy, Matplotlib, Seaborn, Jupyter Notebooks, VS Code, JIRA</a:t>
            </a:r>
          </a:p>
          <a:p>
            <a:pPr>
              <a:spcAft>
                <a:spcPts val="600"/>
              </a:spcAft>
              <a:defRPr sz="1300" b="0">
                <a:solidFill>
                  <a:srgbClr val="FFFFFF"/>
                </a:solidFill>
              </a:defRPr>
            </a:pPr>
            <a:r>
              <a:t>• Soft Skills: Leadership, Problem Solving, Critical Thinking, Communication, Teamwork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Interactive Dashboard &amp; Key Application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12064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38BDF8"/>
                </a:solidFill>
              </a:defRPr>
            </a:pPr>
            <a:r>
              <a:t>🎯 Single Resume Evaluation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Instant SBERT semantic score, match grade, skill coverage percentage, and non-capturing contact audit card.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512064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34D399"/>
                </a:solidFill>
              </a:defRPr>
            </a:pPr>
            <a:r>
              <a:t>🏆 Batch Candidate Leaderboard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Upload multiple PDF/DOCX resumes to rank all candidates automatically against a single job description.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31920"/>
            <a:ext cx="512064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F472B6"/>
                </a:solidFill>
              </a:defRPr>
            </a:pPr>
            <a:r>
              <a:t>🕸️ Multi-Domain Skill Radar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Plotly polar radar charts comparing candidate skills directly against target role requirements across 7 categories.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931920"/>
            <a:ext cx="512064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818CF8"/>
                </a:solidFill>
              </a:defRPr>
            </a:pPr>
            <a:r>
              <a:t>📜 SQLite Log &amp; Clear History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Automatic audit trail persistence in ats_history.db with one-click clear evaluation history button.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Experimental Evaluation &amp; Sample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4D399"/>
                </a:solidFill>
              </a:defRPr>
            </a:pPr>
            <a:r>
              <a:t>📊 Sample Evaluation Output (ML Engineer Candidate)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Candidate Name: Alex (Email: alex.dev@gmail.com | Phone: +91-7058291048)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Target Role: Machine Learning Engineer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Final Composite ATS Score: 87.5%  [Grade: Exceptional Fit]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SBERT Semantic Match: 84.3%  (Dense 384D Vector Cosine Sim)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Skill Coverage Ratio: 90.0%  (9 Matched Skills / 10 Required)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TF-IDF Keyword Similarity: 89.2%  (Term Frequency Matrix Cosine Sim)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Matched Competencies: Python, PyTorch, TensorFlow, Scikit-Learn, Docker, Kubernetes, AWS, Git, SQL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Missing Skill Alert: MLflow (Recommended for optimization)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FastAPI REST Microservice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8BDF8"/>
                </a:solidFill>
              </a:defRPr>
            </a:pPr>
            <a:r>
              <a:t>🌐 Headless REST API Endpoints (api.py)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• GET / : Health check status &amp; service metadata.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• GET /docs : Interactive Swagger UI API documentation.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• POST /api/v1/parse-resume : Accepts PDF/DOCX file upload, extracts raw text &amp; non-capturing contact audit.</a:t>
            </a:r>
          </a:p>
          <a:p>
            <a:pPr>
              <a:spcAft>
                <a:spcPts val="1200"/>
              </a:spcAft>
              <a:defRPr sz="1400">
                <a:solidFill>
                  <a:srgbClr val="FFFFFF"/>
                </a:solidFill>
              </a:defRPr>
            </a:pPr>
            <a:r>
              <a:t>• POST /api/v1/analyze-match : Accepts JSON payload (resume text + JD text), calculates composite ATS scores, maps skill gaps, logs to SQLite database, and returns JSON response.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HIRELENS MINOR PROJECT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Future Scope &amp; System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07040" cy="4754880"/>
          </a:xfrm>
          <a:prstGeom prst="rect">
            <a:avLst/>
          </a:prstGeom>
          <a:solidFill>
            <a:srgbClr val="0F172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472B6"/>
                </a:solidFill>
              </a:defRPr>
            </a:pPr>
            <a:r>
              <a:t>🚀 Future Research &amp; Technical Roadmap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</a:defRPr>
            </a:pPr>
            <a:r>
              <a:t>1. Domain Fine-Tuning: Fine-tuning SBERT models on 100k+ technical resume datasets for industry specificity.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</a:defRPr>
            </a:pPr>
            <a:r>
              <a:t>2. LLM Bullet Optimizer: Integrating Llama-3 / Gemini models to auto-rewrite resume bullet points for high impact.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</a:defRPr>
            </a:pPr>
            <a:r>
              <a:t>3. Auto-Formatting PDF Generator: Exporting tailored ATS-compliant PDF resumes with missing keywords added.</a:t>
            </a:r>
          </a:p>
          <a:p>
            <a:pPr>
              <a:spcAft>
                <a:spcPts val="1400"/>
              </a:spcAft>
              <a:defRPr sz="1400">
                <a:solidFill>
                  <a:srgbClr val="FFFFFF"/>
                </a:solidFill>
              </a:defRPr>
            </a:pPr>
            <a:r>
              <a:t>4. Enterprise HRMS Integration: Connectors for Workday, Greenhouse, and Lever recruiting pipelines.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0F172A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000" b="1">
                <a:solidFill>
                  <a:srgbClr val="34D399"/>
                </a:solidFill>
              </a:defRPr>
            </a:pPr>
            <a:r>
              <a:t>🎓 Thank You!</a:t>
            </a:r>
          </a:p>
          <a:p>
            <a:pPr>
              <a:spcAft>
                <a:spcPts val="2000"/>
              </a:spcAft>
              <a:defRPr sz="2000" b="1">
                <a:solidFill>
                  <a:srgbClr val="FFFFFF"/>
                </a:solidFill>
              </a:defRPr>
            </a:pPr>
            <a:r>
              <a:t>HireLens: AI-Powered Resume Screening, Skill Gap Analysis &amp; Job Matching System</a:t>
            </a:r>
          </a:p>
          <a:p>
            <a:pPr>
              <a:defRPr sz="1400">
                <a:solidFill>
                  <a:srgbClr val="818CF8"/>
                </a:solidFill>
              </a:defRPr>
            </a:pPr>
            <a:r>
              <a:t>👥 Presented By: Aryan (Roll: 28240533) &amp; Nitish (Roll: 28240529)</a:t>
            </a:r>
            <a:br/>
            <a:r>
              <a:t>🏛️ Panipat Institute of Engineering &amp; Technology (PIET)</a:t>
            </a:r>
            <a:br/>
            <a:r>
              <a:t>🌐 GitHub: https://github.com/Aryan8182/Hirelens-ai-resume-analyzer</a:t>
            </a:r>
            <a:br/>
            <a:r>
              <a:t>🚀 Live Demo App: https://aryan8182-hirelens-ai-resume-analyzer-app-p2fpgo.streamlit.app/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