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07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914400"/>
            <a:ext cx="10362895" cy="5029200"/>
          </a:xfrm>
          <a:prstGeom prst="rect">
            <a:avLst/>
          </a:prstGeom>
          <a:solidFill>
            <a:srgbClr val="0F172A"/>
          </a:solidFill>
          <a:ln w="25400">
            <a:solidFill>
              <a:srgbClr val="818C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1280160"/>
            <a:ext cx="9448495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4400" b="1">
                <a:solidFill>
                  <a:srgbClr val="818CF8"/>
                </a:solidFill>
              </a:defRPr>
            </a:pPr>
            <a:r>
              <a:t>🔍 HireLens</a:t>
            </a:r>
          </a:p>
          <a:p>
            <a:pPr>
              <a:spcAft>
                <a:spcPts val="2500"/>
              </a:spcAft>
              <a:defRPr sz="2200" b="1">
                <a:solidFill>
                  <a:srgbClr val="FFFFFF"/>
                </a:solidFill>
              </a:defRPr>
            </a:pPr>
            <a:r>
              <a:t>AI-Powered Resume Screening, Skill Gap Analysis &amp; Job Matching System</a:t>
            </a:r>
          </a:p>
          <a:p>
            <a:pPr>
              <a:spcAft>
                <a:spcPts val="3000"/>
              </a:spcAft>
              <a:defRPr sz="1400">
                <a:solidFill>
                  <a:srgbClr val="38BDF8"/>
                </a:solidFill>
              </a:defRPr>
            </a:pPr>
            <a:r>
              <a:t>Minor Project 1 Presentation • Department of Artificial Intelligence &amp; Machine Learning</a:t>
            </a:r>
          </a:p>
          <a:p>
            <a:pPr>
              <a:defRPr sz="1400" b="1">
                <a:solidFill>
                  <a:srgbClr val="FFFFFF"/>
                </a:solidFill>
              </a:defRPr>
            </a:pPr>
            <a:r>
              <a:t>👥 Project Team:  Aryan (Roll: 28240533)  |  Nitish (Roll: 28240529)</a:t>
            </a:r>
            <a:br/>
            <a:r>
              <a:t>🏛️ Institution: Panipat Institute of Engineering &amp; Technology (PIET)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07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818CF8"/>
                </a:solidFill>
              </a:defRPr>
            </a:pPr>
            <a:r>
              <a:t>HIRELENS MINOR PROJECT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Introduction &amp; Problem Statement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463040"/>
            <a:ext cx="5120640" cy="4754880"/>
          </a:xfrm>
          <a:prstGeom prst="rect">
            <a:avLst/>
          </a:prstGeom>
          <a:solidFill>
            <a:srgbClr val="0F172A"/>
          </a:solidFill>
          <a:ln w="19050">
            <a:solidFill>
              <a:srgbClr val="F472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645920"/>
            <a:ext cx="47548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800" b="1">
                <a:solidFill>
                  <a:srgbClr val="F472B6"/>
                </a:solidFill>
              </a:defRPr>
            </a:pPr>
            <a:r>
              <a:t>⚠️ Challenges in Modern Recruitment</a:t>
            </a:r>
          </a:p>
          <a:p>
            <a:pPr>
              <a:spcAft>
                <a:spcPts val="1000"/>
              </a:spcAft>
              <a:defRPr sz="1300">
                <a:solidFill>
                  <a:srgbClr val="CBD5E1"/>
                </a:solidFill>
              </a:defRPr>
            </a:pPr>
            <a:r>
              <a:t>• High Application Volume: Recruiters receive 250+ resumes per job posting.</a:t>
            </a:r>
          </a:p>
          <a:p>
            <a:pPr>
              <a:spcAft>
                <a:spcPts val="1000"/>
              </a:spcAft>
              <a:defRPr sz="1300">
                <a:solidFill>
                  <a:srgbClr val="CBD5E1"/>
                </a:solidFill>
              </a:defRPr>
            </a:pPr>
            <a:r>
              <a:t>• Keyword Inflexibility: Traditional ATS tools use rigid exact-string matching.</a:t>
            </a:r>
          </a:p>
          <a:p>
            <a:pPr>
              <a:spcAft>
                <a:spcPts val="1000"/>
              </a:spcAft>
              <a:defRPr sz="1300">
                <a:solidFill>
                  <a:srgbClr val="CBD5E1"/>
                </a:solidFill>
              </a:defRPr>
            </a:pPr>
            <a:r>
              <a:t>• False Disqualifications: Candidates writing 'Neural Networks' get 0 score if JD says 'Deep Learning'.</a:t>
            </a:r>
          </a:p>
          <a:p>
            <a:pPr>
              <a:spcAft>
                <a:spcPts val="1000"/>
              </a:spcAft>
              <a:defRPr sz="1300">
                <a:solidFill>
                  <a:srgbClr val="CBD5E1"/>
                </a:solidFill>
              </a:defRPr>
            </a:pPr>
            <a:r>
              <a:t>• Lack of Transparency: Proprietary black-box algorithms provide zero explainability to job seekers.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0" y="1463040"/>
            <a:ext cx="5120640" cy="4754880"/>
          </a:xfrm>
          <a:prstGeom prst="rect">
            <a:avLst/>
          </a:prstGeom>
          <a:solidFill>
            <a:srgbClr val="0F172A"/>
          </a:solidFill>
          <a:ln w="1905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645920"/>
            <a:ext cx="47548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800" b="1">
                <a:solidFill>
                  <a:srgbClr val="34D399"/>
                </a:solidFill>
              </a:defRPr>
            </a:pPr>
            <a:r>
              <a:t>✨ The HireLens AI Solution</a:t>
            </a:r>
          </a:p>
          <a:p>
            <a:pPr>
              <a:spcAft>
                <a:spcPts val="1000"/>
              </a:spcAft>
              <a:defRPr sz="1300">
                <a:solidFill>
                  <a:srgbClr val="CBD5E1"/>
                </a:solidFill>
              </a:defRPr>
            </a:pPr>
            <a:r>
              <a:t>• Deep Semantic Vectors: Sentence-Transformers (all-MiniLM-L6-v2) for context matching.</a:t>
            </a:r>
          </a:p>
          <a:p>
            <a:pPr>
              <a:spcAft>
                <a:spcPts val="1000"/>
              </a:spcAft>
              <a:defRPr sz="1300">
                <a:solidFill>
                  <a:srgbClr val="CBD5E1"/>
                </a:solidFill>
              </a:defRPr>
            </a:pPr>
            <a:r>
              <a:t>• 7-Domain NLP Taxonomy: Multi-domain technical &amp; soft skill coverage analysis.</a:t>
            </a:r>
          </a:p>
          <a:p>
            <a:pPr>
              <a:spcAft>
                <a:spcPts val="1000"/>
              </a:spcAft>
              <a:defRPr sz="1300">
                <a:solidFill>
                  <a:srgbClr val="CBD5E1"/>
                </a:solidFill>
              </a:defRPr>
            </a:pPr>
            <a:r>
              <a:t>• Hybrid ATS Scoring: Weighted fusion of SBERT, Skill Coverage, and TF-IDF similarity.</a:t>
            </a:r>
          </a:p>
          <a:p>
            <a:pPr>
              <a:spcAft>
                <a:spcPts val="1000"/>
              </a:spcAft>
              <a:defRPr sz="1300">
                <a:solidFill>
                  <a:srgbClr val="CBD5E1"/>
                </a:solidFill>
              </a:defRPr>
            </a:pPr>
            <a:r>
              <a:t>• Actionable Feedback: Missing keyword detection &amp; interactive Streamlit web dashboard.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07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818CF8"/>
                </a:solidFill>
              </a:defRPr>
            </a:pPr>
            <a:r>
              <a:t>HIRELENS MINOR PROJECT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System Architecture &amp; Processing Pipeline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645920"/>
            <a:ext cx="2468880" cy="4389120"/>
          </a:xfrm>
          <a:prstGeom prst="rect">
            <a:avLst/>
          </a:prstGeom>
          <a:solidFill>
            <a:srgbClr val="0F172A"/>
          </a:solidFill>
          <a:ln w="19050">
            <a:solidFill>
              <a:srgbClr val="818C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28800"/>
            <a:ext cx="21945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600" b="1">
                <a:solidFill>
                  <a:srgbClr val="818CF8"/>
                </a:solidFill>
              </a:defRPr>
            </a:pPr>
            <a:r>
              <a:t>1. Document Ingestion</a:t>
            </a:r>
          </a:p>
          <a:p>
            <a:pPr>
              <a:defRPr sz="1300">
                <a:solidFill>
                  <a:srgbClr val="CBD5E1"/>
                </a:solidFill>
              </a:defRPr>
            </a:pPr>
            <a:r>
              <a:t>PDF &amp; DOCX parsing via pdfplumber and python-docx text extraction engines.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3474720" y="1645920"/>
            <a:ext cx="2468880" cy="4389120"/>
          </a:xfrm>
          <a:prstGeom prst="rect">
            <a:avLst/>
          </a:prstGeom>
          <a:solidFill>
            <a:srgbClr val="0F172A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11880" y="1828800"/>
            <a:ext cx="21945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600" b="1">
                <a:solidFill>
                  <a:srgbClr val="38BDF8"/>
                </a:solidFill>
              </a:defRPr>
            </a:pPr>
            <a:r>
              <a:t>2. NLP Entity Mining</a:t>
            </a:r>
          </a:p>
          <a:p>
            <a:pPr>
              <a:defRPr sz="1300">
                <a:solidFill>
                  <a:srgbClr val="CBD5E1"/>
                </a:solidFill>
              </a:defRPr>
            </a:pPr>
            <a:r>
              <a:t>Non-capturing regex contact extractor (Phone, Email, LinkedIn, GitHub).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1645920"/>
            <a:ext cx="2468880" cy="4389120"/>
          </a:xfrm>
          <a:prstGeom prst="rect">
            <a:avLst/>
          </a:prstGeom>
          <a:solidFill>
            <a:srgbClr val="0F172A"/>
          </a:solidFill>
          <a:ln w="1905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55080" y="1828800"/>
            <a:ext cx="21945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600" b="1">
                <a:solidFill>
                  <a:srgbClr val="34D399"/>
                </a:solidFill>
              </a:defRPr>
            </a:pPr>
            <a:r>
              <a:t>3. Taxonomy Matching</a:t>
            </a:r>
          </a:p>
          <a:p>
            <a:pPr>
              <a:defRPr sz="1300">
                <a:solidFill>
                  <a:srgbClr val="CBD5E1"/>
                </a:solidFill>
              </a:defRPr>
            </a:pPr>
            <a:r>
              <a:t>Categorizes candidate skills across 7 technical &amp; soft skill domains.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961120" y="1645920"/>
            <a:ext cx="2468880" cy="4389120"/>
          </a:xfrm>
          <a:prstGeom prst="rect">
            <a:avLst/>
          </a:prstGeom>
          <a:solidFill>
            <a:srgbClr val="0F172A"/>
          </a:solidFill>
          <a:ln w="19050">
            <a:solidFill>
              <a:srgbClr val="F472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098280" y="1828800"/>
            <a:ext cx="21945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600" b="1">
                <a:solidFill>
                  <a:srgbClr val="F472B6"/>
                </a:solidFill>
              </a:defRPr>
            </a:pPr>
            <a:r>
              <a:t>4. Hybrid ATS Scoring</a:t>
            </a:r>
          </a:p>
          <a:p>
            <a:pPr>
              <a:defRPr sz="1300">
                <a:solidFill>
                  <a:srgbClr val="CBD5E1"/>
                </a:solidFill>
              </a:defRPr>
            </a:pPr>
            <a:r>
              <a:t>Weighted fusion of SBERT (45%), Skill Coverage (35%), and TF-IDF (20%).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07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818CF8"/>
                </a:solidFill>
              </a:defRPr>
            </a:pPr>
            <a:r>
              <a:t>HIRELENS MINOR PROJECT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Mathematical ATS Formula &amp; SBERT Embeddings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463040"/>
            <a:ext cx="10607040" cy="1463040"/>
          </a:xfrm>
          <a:prstGeom prst="rect">
            <a:avLst/>
          </a:prstGeom>
          <a:solidFill>
            <a:srgbClr val="0F172A"/>
          </a:solidFill>
          <a:ln w="25400">
            <a:solidFill>
              <a:srgbClr val="818C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600200"/>
            <a:ext cx="102412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818CF8"/>
                </a:solidFill>
              </a:defRPr>
            </a:pPr>
            <a:r>
              <a:t>📐 Composite ATS Match Formula</a:t>
            </a:r>
          </a:p>
          <a:p>
            <a:pPr>
              <a:defRPr sz="1800" b="1">
                <a:solidFill>
                  <a:srgbClr val="34D399"/>
                </a:solidFill>
              </a:defRPr>
            </a:pPr>
            <a:r>
              <a:t>ATS Score = (0.45 × SBERT Cosine Sim) + (0.35 × Skill Coverage Ratio) + (0.20 × TF-IDF Cosine Sim)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3200400"/>
            <a:ext cx="5120640" cy="3108960"/>
          </a:xfrm>
          <a:prstGeom prst="rect">
            <a:avLst/>
          </a:prstGeom>
          <a:solidFill>
            <a:srgbClr val="0F172A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3383280"/>
            <a:ext cx="475488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38BDF8"/>
                </a:solidFill>
              </a:defRPr>
            </a:pPr>
            <a:r>
              <a:t>🤖 SBERT Semantic Embeddings (45%)</a:t>
            </a:r>
          </a:p>
          <a:p>
            <a:pPr>
              <a:spcAft>
                <a:spcPts val="600"/>
              </a:spcAft>
              <a:defRPr sz="1200">
                <a:solidFill>
                  <a:srgbClr val="CBD5E1"/>
                </a:solidFill>
              </a:defRPr>
            </a:pPr>
            <a:r>
              <a:t>• Model: all-MiniLM-L6-v2 (384-dimensional dense vectors).</a:t>
            </a:r>
          </a:p>
          <a:p>
            <a:pPr>
              <a:spcAft>
                <a:spcPts val="600"/>
              </a:spcAft>
              <a:defRPr sz="1200">
                <a:solidFill>
                  <a:srgbClr val="CBD5E1"/>
                </a:solidFill>
              </a:defRPr>
            </a:pPr>
            <a:r>
              <a:t>• Calculates cosine distance in deep vector space.</a:t>
            </a:r>
          </a:p>
          <a:p>
            <a:pPr>
              <a:spcAft>
                <a:spcPts val="600"/>
              </a:spcAft>
              <a:defRPr sz="1200">
                <a:solidFill>
                  <a:srgbClr val="CBD5E1"/>
                </a:solidFill>
              </a:defRPr>
            </a:pPr>
            <a:r>
              <a:t>• Understands context &amp; synonyms (e.g. PyTorch ≈ Deep Learning).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3200400"/>
            <a:ext cx="5120640" cy="3108960"/>
          </a:xfrm>
          <a:prstGeom prst="rect">
            <a:avLst/>
          </a:prstGeom>
          <a:solidFill>
            <a:srgbClr val="0F172A"/>
          </a:solidFill>
          <a:ln>
            <a:solidFill>
              <a:srgbClr val="F472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3383280"/>
            <a:ext cx="475488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F472B6"/>
                </a:solidFill>
              </a:defRPr>
            </a:pPr>
            <a:r>
              <a:t>📊 Skill Coverage (35%) &amp; TF-IDF (20%)</a:t>
            </a:r>
          </a:p>
          <a:p>
            <a:pPr>
              <a:spcAft>
                <a:spcPts val="600"/>
              </a:spcAft>
              <a:defRPr sz="1200">
                <a:solidFill>
                  <a:srgbClr val="CBD5E1"/>
                </a:solidFill>
              </a:defRPr>
            </a:pPr>
            <a:r>
              <a:t>• Skill Coverage: Ratio of candidate matched skills vs total required skills.</a:t>
            </a:r>
          </a:p>
          <a:p>
            <a:pPr>
              <a:spcAft>
                <a:spcPts val="600"/>
              </a:spcAft>
              <a:defRPr sz="1200">
                <a:solidFill>
                  <a:srgbClr val="CBD5E1"/>
                </a:solidFill>
              </a:defRPr>
            </a:pPr>
            <a:r>
              <a:t>• TF-IDF Vectorizer: Term Frequency-Inverse Document Frequency matrix.</a:t>
            </a:r>
          </a:p>
          <a:p>
            <a:pPr>
              <a:spcAft>
                <a:spcPts val="600"/>
              </a:spcAft>
              <a:defRPr sz="1200">
                <a:solidFill>
                  <a:srgbClr val="CBD5E1"/>
                </a:solidFill>
              </a:defRPr>
            </a:pPr>
            <a:r>
              <a:t>• Verifies exact hard-keyword frequency presence in resume.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07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818CF8"/>
                </a:solidFill>
              </a:defRPr>
            </a:pPr>
            <a:r>
              <a:t>HIRELENS MINOR PROJECT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Multi-Domain Skill Taxonomy Engine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463040"/>
            <a:ext cx="10607040" cy="4754880"/>
          </a:xfrm>
          <a:prstGeom prst="rect">
            <a:avLst/>
          </a:prstGeom>
          <a:solidFill>
            <a:srgbClr val="0F172A"/>
          </a:solidFill>
          <a:ln w="19050">
            <a:solidFill>
              <a:srgbClr val="818C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645920"/>
            <a:ext cx="102412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800" b="1">
                <a:solidFill>
                  <a:srgbClr val="818CF8"/>
                </a:solidFill>
              </a:defRPr>
            </a:pPr>
            <a:r>
              <a:t>🏷️ 7 Standardized Technical &amp; Soft Skill Categories</a:t>
            </a:r>
          </a:p>
          <a:p>
            <a:pPr>
              <a:spcAft>
                <a:spcPts val="600"/>
              </a:spcAft>
              <a:defRPr sz="1300" b="0">
                <a:solidFill>
                  <a:srgbClr val="FFFFFF"/>
                </a:solidFill>
              </a:defRPr>
            </a:pPr>
            <a:r>
              <a:t>• Programming Languages: Python, C++, Java, JavaScript, TypeScript, Go, Rust, R, SQL, Swift</a:t>
            </a:r>
          </a:p>
          <a:p>
            <a:pPr>
              <a:spcAft>
                <a:spcPts val="600"/>
              </a:spcAft>
              <a:defRPr sz="1300" b="0">
                <a:solidFill>
                  <a:srgbClr val="FFFFFF"/>
                </a:solidFill>
              </a:defRPr>
            </a:pPr>
            <a:r>
              <a:t>• Machine Learning &amp; AI: PyTorch, TensorFlow, Scikit-Learn, OpenCV, SpaCy, HuggingFace, RAG, LLM</a:t>
            </a:r>
          </a:p>
          <a:p>
            <a:pPr>
              <a:spcAft>
                <a:spcPts val="600"/>
              </a:spcAft>
              <a:defRPr sz="1300" b="0">
                <a:solidFill>
                  <a:srgbClr val="FFFFFF"/>
                </a:solidFill>
              </a:defRPr>
            </a:pPr>
            <a:r>
              <a:t>• Web Development: React, Node.js, FastAPI, Flask, Django, HTML5, CSS3, Tailwind, REST API</a:t>
            </a:r>
          </a:p>
          <a:p>
            <a:pPr>
              <a:spcAft>
                <a:spcPts val="600"/>
              </a:spcAft>
              <a:defRPr sz="1300" b="0">
                <a:solidFill>
                  <a:srgbClr val="FFFFFF"/>
                </a:solidFill>
              </a:defRPr>
            </a:pPr>
            <a:r>
              <a:t>• Cloud &amp; DevOps: AWS, Azure, GCP, Docker, Kubernetes, CI/CD, Terraform, Linux, Git, GitHub</a:t>
            </a:r>
          </a:p>
          <a:p>
            <a:pPr>
              <a:spcAft>
                <a:spcPts val="600"/>
              </a:spcAft>
              <a:defRPr sz="1300" b="0">
                <a:solidFill>
                  <a:srgbClr val="FFFFFF"/>
                </a:solidFill>
              </a:defRPr>
            </a:pPr>
            <a:r>
              <a:t>• Databases: PostgreSQL, MySQL, MongoDB, Redis, SQLite, Pinecone, ChromaDB</a:t>
            </a:r>
          </a:p>
          <a:p>
            <a:pPr>
              <a:spcAft>
                <a:spcPts val="600"/>
              </a:spcAft>
              <a:defRPr sz="1300" b="0">
                <a:solidFill>
                  <a:srgbClr val="FFFFFF"/>
                </a:solidFill>
              </a:defRPr>
            </a:pPr>
            <a:r>
              <a:t>• Frameworks &amp; Tools: Pandas, NumPy, Matplotlib, Seaborn, Jupyter Notebooks, VS Code, JIRA</a:t>
            </a:r>
          </a:p>
          <a:p>
            <a:pPr>
              <a:spcAft>
                <a:spcPts val="600"/>
              </a:spcAft>
              <a:defRPr sz="1300" b="0">
                <a:solidFill>
                  <a:srgbClr val="FFFFFF"/>
                </a:solidFill>
              </a:defRPr>
            </a:pPr>
            <a:r>
              <a:t>• Soft Skills: Leadership, Problem Solving, Critical Thinking, Communication, Teamwork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07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818CF8"/>
                </a:solidFill>
              </a:defRPr>
            </a:pPr>
            <a:r>
              <a:t>HIRELENS MINOR PROJECT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Interactive Dashboard &amp; Key Application Features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463040"/>
            <a:ext cx="5120640" cy="2194560"/>
          </a:xfrm>
          <a:prstGeom prst="rect">
            <a:avLst/>
          </a:prstGeom>
          <a:solidFill>
            <a:srgbClr val="0F172A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600"/>
              </a:spcAft>
              <a:defRPr sz="1600" b="1">
                <a:solidFill>
                  <a:srgbClr val="38BDF8"/>
                </a:solidFill>
              </a:defRPr>
            </a:pPr>
            <a:r>
              <a:t>🎯 Single Resume Evaluation</a:t>
            </a:r>
          </a:p>
          <a:p>
            <a:pPr>
              <a:defRPr sz="1200">
                <a:solidFill>
                  <a:srgbClr val="CBD5E1"/>
                </a:solidFill>
              </a:defRPr>
            </a:pPr>
            <a:r>
              <a:t>Instant SBERT semantic score, match grade, skill coverage percentage, and non-capturing contact audit card.</a:t>
            </a:r>
          </a:p>
        </p:txBody>
      </p:sp>
      <p:sp>
        <p:nvSpPr>
          <p:cNvPr id="5" name="Rectangle 4"/>
          <p:cNvSpPr/>
          <p:nvPr/>
        </p:nvSpPr>
        <p:spPr>
          <a:xfrm>
            <a:off x="6217920" y="1463040"/>
            <a:ext cx="5120640" cy="2194560"/>
          </a:xfrm>
          <a:prstGeom prst="rect">
            <a:avLst/>
          </a:prstGeom>
          <a:solidFill>
            <a:srgbClr val="0F172A"/>
          </a:solidFill>
          <a:ln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600"/>
              </a:spcAft>
              <a:defRPr sz="1600" b="1">
                <a:solidFill>
                  <a:srgbClr val="34D399"/>
                </a:solidFill>
              </a:defRPr>
            </a:pPr>
            <a:r>
              <a:t>🏆 Batch Candidate Leaderboard</a:t>
            </a:r>
          </a:p>
          <a:p>
            <a:pPr>
              <a:defRPr sz="1200">
                <a:solidFill>
                  <a:srgbClr val="CBD5E1"/>
                </a:solidFill>
              </a:defRPr>
            </a:pPr>
            <a:r>
              <a:t>Upload multiple PDF/DOCX resumes to rank all candidates automatically against a single job description.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3931920"/>
            <a:ext cx="5120640" cy="2194560"/>
          </a:xfrm>
          <a:prstGeom prst="rect">
            <a:avLst/>
          </a:prstGeom>
          <a:solidFill>
            <a:srgbClr val="0F172A"/>
          </a:solidFill>
          <a:ln>
            <a:solidFill>
              <a:srgbClr val="F472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600"/>
              </a:spcAft>
              <a:defRPr sz="1600" b="1">
                <a:solidFill>
                  <a:srgbClr val="F472B6"/>
                </a:solidFill>
              </a:defRPr>
            </a:pPr>
            <a:r>
              <a:t>🕸️ Multi-Domain Skill Radar</a:t>
            </a:r>
          </a:p>
          <a:p>
            <a:pPr>
              <a:defRPr sz="1200">
                <a:solidFill>
                  <a:srgbClr val="CBD5E1"/>
                </a:solidFill>
              </a:defRPr>
            </a:pPr>
            <a:r>
              <a:t>Plotly polar radar charts comparing candidate skills directly against target role requirements across 7 categories.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6217920" y="3931920"/>
            <a:ext cx="5120640" cy="2194560"/>
          </a:xfrm>
          <a:prstGeom prst="rect">
            <a:avLst/>
          </a:prstGeom>
          <a:solidFill>
            <a:srgbClr val="0F172A"/>
          </a:solidFill>
          <a:ln>
            <a:solidFill>
              <a:srgbClr val="818C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600"/>
              </a:spcAft>
              <a:defRPr sz="1600" b="1">
                <a:solidFill>
                  <a:srgbClr val="818CF8"/>
                </a:solidFill>
              </a:defRPr>
            </a:pPr>
            <a:r>
              <a:t>📜 SQLite Log &amp; Clear History</a:t>
            </a:r>
          </a:p>
          <a:p>
            <a:pPr>
              <a:defRPr sz="1200">
                <a:solidFill>
                  <a:srgbClr val="CBD5E1"/>
                </a:solidFill>
              </a:defRPr>
            </a:pPr>
            <a:r>
              <a:t>Automatic audit trail persistence in ats_history.db with one-click clear evaluation history button.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07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818CF8"/>
                </a:solidFill>
              </a:defRPr>
            </a:pPr>
            <a:r>
              <a:t>HIRELENS MINOR PROJECT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Experimental Evaluation &amp; Sample Results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463040"/>
            <a:ext cx="10607040" cy="4754880"/>
          </a:xfrm>
          <a:prstGeom prst="rect">
            <a:avLst/>
          </a:prstGeom>
          <a:solidFill>
            <a:srgbClr val="0F172A"/>
          </a:solidFill>
          <a:ln w="1905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645920"/>
            <a:ext cx="102412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800" b="1">
                <a:solidFill>
                  <a:srgbClr val="34D399"/>
                </a:solidFill>
              </a:defRPr>
            </a:pPr>
            <a:r>
              <a:t>📊 Sample Evaluation Output (ML Engineer Candidate)</a:t>
            </a:r>
          </a:p>
          <a:p>
            <a:pPr>
              <a:spcAft>
                <a:spcPts val="600"/>
              </a:spcAft>
              <a:defRPr sz="1300">
                <a:solidFill>
                  <a:srgbClr val="FFFFFF"/>
                </a:solidFill>
              </a:defRPr>
            </a:pPr>
            <a:r>
              <a:t>• Candidate Name: Alex (Email: alex.dev@gmail.com | Phone: +91-7058291048)</a:t>
            </a:r>
          </a:p>
          <a:p>
            <a:pPr>
              <a:spcAft>
                <a:spcPts val="600"/>
              </a:spcAft>
              <a:defRPr sz="1300">
                <a:solidFill>
                  <a:srgbClr val="FFFFFF"/>
                </a:solidFill>
              </a:defRPr>
            </a:pPr>
            <a:r>
              <a:t>• Target Role: Machine Learning Engineer</a:t>
            </a:r>
          </a:p>
          <a:p>
            <a:pPr>
              <a:spcAft>
                <a:spcPts val="600"/>
              </a:spcAft>
              <a:defRPr sz="1300">
                <a:solidFill>
                  <a:srgbClr val="FFFFFF"/>
                </a:solidFill>
              </a:defRPr>
            </a:pPr>
            <a:r>
              <a:t>• Final Composite ATS Score: 87.5%  [Grade: Exceptional Fit]</a:t>
            </a:r>
          </a:p>
          <a:p>
            <a:pPr>
              <a:spcAft>
                <a:spcPts val="600"/>
              </a:spcAft>
              <a:defRPr sz="1300">
                <a:solidFill>
                  <a:srgbClr val="FFFFFF"/>
                </a:solidFill>
              </a:defRPr>
            </a:pPr>
            <a:r>
              <a:t>• SBERT Semantic Match: 84.3%  (Dense 384D Vector Cosine Sim)</a:t>
            </a:r>
          </a:p>
          <a:p>
            <a:pPr>
              <a:spcAft>
                <a:spcPts val="600"/>
              </a:spcAft>
              <a:defRPr sz="1300">
                <a:solidFill>
                  <a:srgbClr val="FFFFFF"/>
                </a:solidFill>
              </a:defRPr>
            </a:pPr>
            <a:r>
              <a:t>• Skill Coverage Ratio: 90.0%  (9 Matched Skills / 10 Required)</a:t>
            </a:r>
          </a:p>
          <a:p>
            <a:pPr>
              <a:spcAft>
                <a:spcPts val="600"/>
              </a:spcAft>
              <a:defRPr sz="1300">
                <a:solidFill>
                  <a:srgbClr val="FFFFFF"/>
                </a:solidFill>
              </a:defRPr>
            </a:pPr>
            <a:r>
              <a:t>• TF-IDF Keyword Similarity: 89.2%  (Term Frequency Matrix Cosine Sim)</a:t>
            </a:r>
          </a:p>
          <a:p>
            <a:pPr>
              <a:spcAft>
                <a:spcPts val="600"/>
              </a:spcAft>
              <a:defRPr sz="1300">
                <a:solidFill>
                  <a:srgbClr val="FFFFFF"/>
                </a:solidFill>
              </a:defRPr>
            </a:pPr>
            <a:r>
              <a:t>• Matched Competencies: Python, PyTorch, TensorFlow, Scikit-Learn, Docker, Kubernetes, AWS, Git, SQL</a:t>
            </a:r>
          </a:p>
          <a:p>
            <a:pPr>
              <a:spcAft>
                <a:spcPts val="600"/>
              </a:spcAft>
              <a:defRPr sz="1300">
                <a:solidFill>
                  <a:srgbClr val="FFFFFF"/>
                </a:solidFill>
              </a:defRPr>
            </a:pPr>
            <a:r>
              <a:t>• Missing Skill Alert: MLflow (Recommended for optimization)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07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818CF8"/>
                </a:solidFill>
              </a:defRPr>
            </a:pPr>
            <a:r>
              <a:t>HIRELENS MINOR PROJECT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FastAPI REST Microservice Architecture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463040"/>
            <a:ext cx="10607040" cy="4754880"/>
          </a:xfrm>
          <a:prstGeom prst="rect">
            <a:avLst/>
          </a:prstGeom>
          <a:solidFill>
            <a:srgbClr val="0F172A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645920"/>
            <a:ext cx="102412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800" b="1">
                <a:solidFill>
                  <a:srgbClr val="38BDF8"/>
                </a:solidFill>
              </a:defRPr>
            </a:pPr>
            <a:r>
              <a:t>🌐 Headless REST API Endpoints (api.py)</a:t>
            </a:r>
          </a:p>
          <a:p>
            <a:pPr>
              <a:spcAft>
                <a:spcPts val="1200"/>
              </a:spcAft>
              <a:defRPr sz="1400">
                <a:solidFill>
                  <a:srgbClr val="FFFFFF"/>
                </a:solidFill>
              </a:defRPr>
            </a:pPr>
            <a:r>
              <a:t>• GET / : Health check status &amp; service metadata.</a:t>
            </a:r>
          </a:p>
          <a:p>
            <a:pPr>
              <a:spcAft>
                <a:spcPts val="1200"/>
              </a:spcAft>
              <a:defRPr sz="1400">
                <a:solidFill>
                  <a:srgbClr val="FFFFFF"/>
                </a:solidFill>
              </a:defRPr>
            </a:pPr>
            <a:r>
              <a:t>• GET /docs : Interactive Swagger UI API documentation.</a:t>
            </a:r>
          </a:p>
          <a:p>
            <a:pPr>
              <a:spcAft>
                <a:spcPts val="1200"/>
              </a:spcAft>
              <a:defRPr sz="1400">
                <a:solidFill>
                  <a:srgbClr val="FFFFFF"/>
                </a:solidFill>
              </a:defRPr>
            </a:pPr>
            <a:r>
              <a:t>• POST /api/v1/parse-resume : Accepts PDF/DOCX file upload, extracts raw text &amp; non-capturing contact audit.</a:t>
            </a:r>
          </a:p>
          <a:p>
            <a:pPr>
              <a:spcAft>
                <a:spcPts val="1200"/>
              </a:spcAft>
              <a:defRPr sz="1400">
                <a:solidFill>
                  <a:srgbClr val="FFFFFF"/>
                </a:solidFill>
              </a:defRPr>
            </a:pPr>
            <a:r>
              <a:t>• POST /api/v1/analyze-match : Accepts JSON payload (resume text + JD text), calculates composite ATS scores, maps skill gaps, logs to SQLite database, and returns JSON response.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07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818CF8"/>
                </a:solidFill>
              </a:defRPr>
            </a:pPr>
            <a:r>
              <a:t>HIRELENS MINOR PROJECT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Future Scope &amp; System Enhancements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463040"/>
            <a:ext cx="10607040" cy="4754880"/>
          </a:xfrm>
          <a:prstGeom prst="rect">
            <a:avLst/>
          </a:prstGeom>
          <a:solidFill>
            <a:srgbClr val="0F172A"/>
          </a:solidFill>
          <a:ln w="19050">
            <a:solidFill>
              <a:srgbClr val="F472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645920"/>
            <a:ext cx="102412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800" b="1">
                <a:solidFill>
                  <a:srgbClr val="F472B6"/>
                </a:solidFill>
              </a:defRPr>
            </a:pPr>
            <a:r>
              <a:t>🚀 Future Research &amp; Technical Roadmap</a:t>
            </a:r>
          </a:p>
          <a:p>
            <a:pPr>
              <a:spcAft>
                <a:spcPts val="1400"/>
              </a:spcAft>
              <a:defRPr sz="1400">
                <a:solidFill>
                  <a:srgbClr val="FFFFFF"/>
                </a:solidFill>
              </a:defRPr>
            </a:pPr>
            <a:r>
              <a:t>1. Domain Fine-Tuning: Fine-tuning SBERT models on 100k+ technical resume datasets for industry specificity.</a:t>
            </a:r>
          </a:p>
          <a:p>
            <a:pPr>
              <a:spcAft>
                <a:spcPts val="1400"/>
              </a:spcAft>
              <a:defRPr sz="1400">
                <a:solidFill>
                  <a:srgbClr val="FFFFFF"/>
                </a:solidFill>
              </a:defRPr>
            </a:pPr>
            <a:r>
              <a:t>2. LLM Bullet Optimizer: Integrating Llama-3 / Gemini models to auto-rewrite resume bullet points for high impact.</a:t>
            </a:r>
          </a:p>
          <a:p>
            <a:pPr>
              <a:spcAft>
                <a:spcPts val="1400"/>
              </a:spcAft>
              <a:defRPr sz="1400">
                <a:solidFill>
                  <a:srgbClr val="FFFFFF"/>
                </a:solidFill>
              </a:defRPr>
            </a:pPr>
            <a:r>
              <a:t>3. Auto-Formatting PDF Generator: Exporting tailored ATS-compliant PDF resumes with missing keywords added.</a:t>
            </a:r>
          </a:p>
          <a:p>
            <a:pPr>
              <a:spcAft>
                <a:spcPts val="1400"/>
              </a:spcAft>
              <a:defRPr sz="1400">
                <a:solidFill>
                  <a:srgbClr val="FFFFFF"/>
                </a:solidFill>
              </a:defRPr>
            </a:pPr>
            <a:r>
              <a:t>4. Enterprise HRMS Integration: Connectors for Workday, Greenhouse, and Lever recruiting pipelines.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07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914400"/>
            <a:ext cx="10362895" cy="5029200"/>
          </a:xfrm>
          <a:prstGeom prst="rect">
            <a:avLst/>
          </a:prstGeom>
          <a:solidFill>
            <a:srgbClr val="0F172A"/>
          </a:solidFill>
          <a:ln w="2540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1371600"/>
            <a:ext cx="9448495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4000" b="1">
                <a:solidFill>
                  <a:srgbClr val="34D399"/>
                </a:solidFill>
              </a:defRPr>
            </a:pPr>
            <a:r>
              <a:t>🎓 Thank You!</a:t>
            </a:r>
          </a:p>
          <a:p>
            <a:pPr>
              <a:spcAft>
                <a:spcPts val="2000"/>
              </a:spcAft>
              <a:defRPr sz="2000" b="1">
                <a:solidFill>
                  <a:srgbClr val="FFFFFF"/>
                </a:solidFill>
              </a:defRPr>
            </a:pPr>
            <a:r>
              <a:t>HireLens: AI-Powered Resume Screening, Skill Gap Analysis &amp; Job Matching System</a:t>
            </a:r>
          </a:p>
          <a:p>
            <a:pPr>
              <a:defRPr sz="1400">
                <a:solidFill>
                  <a:srgbClr val="818CF8"/>
                </a:solidFill>
              </a:defRPr>
            </a:pPr>
            <a:r>
              <a:t>👥 Presented By: Aryan (Roll: 28240533) &amp; Nitish (Roll: 28240529)</a:t>
            </a:r>
            <a:br/>
            <a:r>
              <a:t>🏛️ Panipat Institute of Engineering &amp; Technology (PIET)</a:t>
            </a:r>
            <a:br/>
            <a:r>
              <a:t>🌐 GitHub: https://github.com/Aryan8182/Hirelens-ai-resume-analyzer</a:t>
            </a:r>
            <a:br/>
            <a:r>
              <a:t>🚀 Live Demo App: https://hirelens-ai-resume-analyzer.streamlit.app/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